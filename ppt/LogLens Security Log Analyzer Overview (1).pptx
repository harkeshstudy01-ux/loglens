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Etna Sans Serif" charset="1" panose="02000600000000000000"/>
      <p:regular r:id="rId16"/>
    </p:embeddedFont>
    <p:embeddedFont>
      <p:font typeface="Questrial" charset="1" panose="02000000000000000000"/>
      <p:regular r:id="rId17"/>
    </p:embeddedFont>
    <p:embeddedFont>
      <p:font typeface="Arimo" charset="1"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24193" y="-156168"/>
            <a:ext cx="3822305" cy="5299668"/>
          </a:xfrm>
          <a:custGeom>
            <a:avLst/>
            <a:gdLst/>
            <a:ahLst/>
            <a:cxnLst/>
            <a:rect r="r" b="b" t="t" l="l"/>
            <a:pathLst>
              <a:path h="5299668" w="3822305">
                <a:moveTo>
                  <a:pt x="0" y="5299668"/>
                </a:moveTo>
                <a:lnTo>
                  <a:pt x="3822305" y="5299668"/>
                </a:lnTo>
                <a:lnTo>
                  <a:pt x="3822305" y="0"/>
                </a:lnTo>
                <a:lnTo>
                  <a:pt x="0" y="0"/>
                </a:lnTo>
                <a:lnTo>
                  <a:pt x="0" y="529966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601867" y="5143500"/>
            <a:ext cx="3805582" cy="5276481"/>
          </a:xfrm>
          <a:custGeom>
            <a:avLst/>
            <a:gdLst/>
            <a:ahLst/>
            <a:cxnLst/>
            <a:rect r="r" b="b" t="t" l="l"/>
            <a:pathLst>
              <a:path h="5276481" w="3805582">
                <a:moveTo>
                  <a:pt x="3805582" y="0"/>
                </a:moveTo>
                <a:lnTo>
                  <a:pt x="0" y="0"/>
                </a:lnTo>
                <a:lnTo>
                  <a:pt x="0" y="5276481"/>
                </a:lnTo>
                <a:lnTo>
                  <a:pt x="3805582" y="5276481"/>
                </a:lnTo>
                <a:lnTo>
                  <a:pt x="38055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413357" y="3721531"/>
            <a:ext cx="11461285" cy="1097107"/>
          </a:xfrm>
          <a:prstGeom prst="rect">
            <a:avLst/>
          </a:prstGeom>
        </p:spPr>
        <p:txBody>
          <a:bodyPr anchor="t" rtlCol="false" tIns="0" lIns="0" bIns="0" rIns="0">
            <a:spAutoFit/>
          </a:bodyPr>
          <a:lstStyle/>
          <a:p>
            <a:pPr algn="ctr" marL="0" indent="0" lvl="0">
              <a:lnSpc>
                <a:spcPts val="8944"/>
              </a:lnSpc>
            </a:pPr>
            <a:r>
              <a:rPr lang="en-US" sz="6388">
                <a:solidFill>
                  <a:srgbClr val="1FA5CB"/>
                </a:solidFill>
                <a:latin typeface="Etna Sans Serif"/>
                <a:ea typeface="Etna Sans Serif"/>
                <a:cs typeface="Etna Sans Serif"/>
                <a:sym typeface="Etna Sans Serif"/>
              </a:rPr>
              <a:t>LogLens - Security Log Analyzer</a:t>
            </a:r>
          </a:p>
        </p:txBody>
      </p:sp>
      <p:sp>
        <p:nvSpPr>
          <p:cNvPr name="TextBox 5" id="5"/>
          <p:cNvSpPr txBox="true"/>
          <p:nvPr/>
        </p:nvSpPr>
        <p:spPr>
          <a:xfrm rot="0">
            <a:off x="5172364" y="5785768"/>
            <a:ext cx="7943272" cy="2701741"/>
          </a:xfrm>
          <a:prstGeom prst="rect">
            <a:avLst/>
          </a:prstGeom>
        </p:spPr>
        <p:txBody>
          <a:bodyPr anchor="t" rtlCol="false" tIns="0" lIns="0" bIns="0" rIns="0">
            <a:spAutoFit/>
          </a:bodyPr>
          <a:lstStyle/>
          <a:p>
            <a:pPr algn="ctr" marL="0" indent="0" lvl="0">
              <a:lnSpc>
                <a:spcPts val="5387"/>
              </a:lnSpc>
            </a:pPr>
            <a:r>
              <a:rPr lang="en-US" sz="3847">
                <a:solidFill>
                  <a:srgbClr val="5C6D7B"/>
                </a:solidFill>
                <a:latin typeface="Questrial"/>
                <a:ea typeface="Questrial"/>
                <a:cs typeface="Questrial"/>
                <a:sym typeface="Questrial"/>
              </a:rPr>
              <a:t>SIEM-lite system for automated Apache &amp; Nginx log security analysis</a:t>
            </a:r>
          </a:p>
          <a:p>
            <a:pPr algn="ctr" marL="0" indent="0" lvl="0">
              <a:lnSpc>
                <a:spcPts val="5387"/>
              </a:lnSpc>
            </a:pPr>
            <a:r>
              <a:rPr lang="en-US" sz="3847">
                <a:solidFill>
                  <a:srgbClr val="5C6D7B"/>
                </a:solidFill>
                <a:latin typeface="Questrial"/>
                <a:ea typeface="Questrial"/>
                <a:cs typeface="Questrial"/>
                <a:sym typeface="Questrial"/>
              </a:rPr>
              <a:t>Presented by Harkesh | Teacher Exhibition 2026</a:t>
            </a:r>
          </a:p>
        </p:txBody>
      </p:sp>
      <p:grpSp>
        <p:nvGrpSpPr>
          <p:cNvPr name="Group 6" id="6"/>
          <p:cNvGrpSpPr/>
          <p:nvPr/>
        </p:nvGrpSpPr>
        <p:grpSpPr>
          <a:xfrm rot="0">
            <a:off x="8858021" y="0"/>
            <a:ext cx="10382258" cy="873338"/>
            <a:chOff x="0" y="0"/>
            <a:chExt cx="2734422" cy="230015"/>
          </a:xfrm>
        </p:grpSpPr>
        <p:sp>
          <p:nvSpPr>
            <p:cNvPr name="Freeform 7" id="7"/>
            <p:cNvSpPr/>
            <p:nvPr/>
          </p:nvSpPr>
          <p:spPr>
            <a:xfrm flipH="false" flipV="false" rot="0">
              <a:off x="0" y="0"/>
              <a:ext cx="2734422" cy="230015"/>
            </a:xfrm>
            <a:custGeom>
              <a:avLst/>
              <a:gdLst/>
              <a:ahLst/>
              <a:cxnLst/>
              <a:rect r="r" b="b" t="t" l="l"/>
              <a:pathLst>
                <a:path h="230015" w="2734422">
                  <a:moveTo>
                    <a:pt x="203200" y="0"/>
                  </a:moveTo>
                  <a:lnTo>
                    <a:pt x="2734422" y="0"/>
                  </a:lnTo>
                  <a:lnTo>
                    <a:pt x="2531222" y="230015"/>
                  </a:lnTo>
                  <a:lnTo>
                    <a:pt x="0" y="230015"/>
                  </a:lnTo>
                  <a:lnTo>
                    <a:pt x="203200" y="0"/>
                  </a:lnTo>
                  <a:close/>
                </a:path>
              </a:pathLst>
            </a:custGeom>
            <a:solidFill>
              <a:srgbClr val="25CFFE"/>
            </a:solidFill>
          </p:spPr>
        </p:sp>
        <p:sp>
          <p:nvSpPr>
            <p:cNvPr name="TextBox 8" id="8"/>
            <p:cNvSpPr txBox="true"/>
            <p:nvPr/>
          </p:nvSpPr>
          <p:spPr>
            <a:xfrm>
              <a:off x="101600" y="-47625"/>
              <a:ext cx="2531222" cy="277640"/>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9410738" y="0"/>
            <a:ext cx="10382258" cy="873338"/>
            <a:chOff x="0" y="0"/>
            <a:chExt cx="2734422" cy="230015"/>
          </a:xfrm>
        </p:grpSpPr>
        <p:sp>
          <p:nvSpPr>
            <p:cNvPr name="Freeform 10" id="10"/>
            <p:cNvSpPr/>
            <p:nvPr/>
          </p:nvSpPr>
          <p:spPr>
            <a:xfrm flipH="false" flipV="false" rot="0">
              <a:off x="0" y="0"/>
              <a:ext cx="2734422" cy="230015"/>
            </a:xfrm>
            <a:custGeom>
              <a:avLst/>
              <a:gdLst/>
              <a:ahLst/>
              <a:cxnLst/>
              <a:rect r="r" b="b" t="t" l="l"/>
              <a:pathLst>
                <a:path h="230015" w="2734422">
                  <a:moveTo>
                    <a:pt x="203200" y="0"/>
                  </a:moveTo>
                  <a:lnTo>
                    <a:pt x="2734422" y="0"/>
                  </a:lnTo>
                  <a:lnTo>
                    <a:pt x="2531222" y="230015"/>
                  </a:lnTo>
                  <a:lnTo>
                    <a:pt x="0" y="230015"/>
                  </a:lnTo>
                  <a:lnTo>
                    <a:pt x="203200" y="0"/>
                  </a:lnTo>
                  <a:close/>
                </a:path>
              </a:pathLst>
            </a:custGeom>
            <a:solidFill>
              <a:srgbClr val="5C6D7B"/>
            </a:solidFill>
          </p:spPr>
        </p:sp>
        <p:sp>
          <p:nvSpPr>
            <p:cNvPr name="TextBox 11" id="11"/>
            <p:cNvSpPr txBox="true"/>
            <p:nvPr/>
          </p:nvSpPr>
          <p:spPr>
            <a:xfrm>
              <a:off x="101600" y="-47625"/>
              <a:ext cx="2531222" cy="27764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266002" y="9413662"/>
            <a:ext cx="10382258" cy="873338"/>
            <a:chOff x="0" y="0"/>
            <a:chExt cx="2734422" cy="230015"/>
          </a:xfrm>
        </p:grpSpPr>
        <p:sp>
          <p:nvSpPr>
            <p:cNvPr name="Freeform 13" id="13"/>
            <p:cNvSpPr/>
            <p:nvPr/>
          </p:nvSpPr>
          <p:spPr>
            <a:xfrm flipH="false" flipV="false" rot="0">
              <a:off x="0" y="0"/>
              <a:ext cx="2734422" cy="230015"/>
            </a:xfrm>
            <a:custGeom>
              <a:avLst/>
              <a:gdLst/>
              <a:ahLst/>
              <a:cxnLst/>
              <a:rect r="r" b="b" t="t" l="l"/>
              <a:pathLst>
                <a:path h="230015" w="2734422">
                  <a:moveTo>
                    <a:pt x="203200" y="0"/>
                  </a:moveTo>
                  <a:lnTo>
                    <a:pt x="2734422" y="0"/>
                  </a:lnTo>
                  <a:lnTo>
                    <a:pt x="2531222" y="230015"/>
                  </a:lnTo>
                  <a:lnTo>
                    <a:pt x="0" y="230015"/>
                  </a:lnTo>
                  <a:lnTo>
                    <a:pt x="203200" y="0"/>
                  </a:lnTo>
                  <a:close/>
                </a:path>
              </a:pathLst>
            </a:custGeom>
            <a:solidFill>
              <a:srgbClr val="25CFFE"/>
            </a:solidFill>
          </p:spPr>
        </p:sp>
        <p:sp>
          <p:nvSpPr>
            <p:cNvPr name="TextBox 14" id="14"/>
            <p:cNvSpPr txBox="true"/>
            <p:nvPr/>
          </p:nvSpPr>
          <p:spPr>
            <a:xfrm>
              <a:off x="101600" y="-47625"/>
              <a:ext cx="2531222" cy="27764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832232" y="9413662"/>
            <a:ext cx="10382258" cy="873338"/>
            <a:chOff x="0" y="0"/>
            <a:chExt cx="2734422" cy="230015"/>
          </a:xfrm>
        </p:grpSpPr>
        <p:sp>
          <p:nvSpPr>
            <p:cNvPr name="Freeform 16" id="16"/>
            <p:cNvSpPr/>
            <p:nvPr/>
          </p:nvSpPr>
          <p:spPr>
            <a:xfrm flipH="false" flipV="false" rot="0">
              <a:off x="0" y="0"/>
              <a:ext cx="2734422" cy="230015"/>
            </a:xfrm>
            <a:custGeom>
              <a:avLst/>
              <a:gdLst/>
              <a:ahLst/>
              <a:cxnLst/>
              <a:rect r="r" b="b" t="t" l="l"/>
              <a:pathLst>
                <a:path h="230015" w="2734422">
                  <a:moveTo>
                    <a:pt x="203200" y="0"/>
                  </a:moveTo>
                  <a:lnTo>
                    <a:pt x="2734422" y="0"/>
                  </a:lnTo>
                  <a:lnTo>
                    <a:pt x="2531222" y="230015"/>
                  </a:lnTo>
                  <a:lnTo>
                    <a:pt x="0" y="230015"/>
                  </a:lnTo>
                  <a:lnTo>
                    <a:pt x="203200" y="0"/>
                  </a:lnTo>
                  <a:close/>
                </a:path>
              </a:pathLst>
            </a:custGeom>
            <a:solidFill>
              <a:srgbClr val="5C6D7B"/>
            </a:solidFill>
          </p:spPr>
        </p:sp>
        <p:sp>
          <p:nvSpPr>
            <p:cNvPr name="TextBox 17" id="17"/>
            <p:cNvSpPr txBox="true"/>
            <p:nvPr/>
          </p:nvSpPr>
          <p:spPr>
            <a:xfrm>
              <a:off x="101600" y="-47625"/>
              <a:ext cx="2531222" cy="277640"/>
            </a:xfrm>
            <a:prstGeom prst="rect">
              <a:avLst/>
            </a:prstGeom>
          </p:spPr>
          <p:txBody>
            <a:bodyPr anchor="ctr" rtlCol="false" tIns="50800" lIns="50800" bIns="50800" rIns="50800"/>
            <a:lstStyle/>
            <a:p>
              <a:pPr algn="ctr" marL="0" indent="0" lvl="0">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01555" y="-331272"/>
            <a:ext cx="14383956" cy="2896160"/>
            <a:chOff x="0" y="0"/>
            <a:chExt cx="771220" cy="155283"/>
          </a:xfrm>
        </p:grpSpPr>
        <p:sp>
          <p:nvSpPr>
            <p:cNvPr name="Freeform 3" id="3"/>
            <p:cNvSpPr/>
            <p:nvPr/>
          </p:nvSpPr>
          <p:spPr>
            <a:xfrm flipH="false" flipV="false" rot="0">
              <a:off x="0" y="0"/>
              <a:ext cx="771220" cy="155283"/>
            </a:xfrm>
            <a:custGeom>
              <a:avLst/>
              <a:gdLst/>
              <a:ahLst/>
              <a:cxnLst/>
              <a:rect r="r" b="b" t="t" l="l"/>
              <a:pathLst>
                <a:path h="155283" w="771220">
                  <a:moveTo>
                    <a:pt x="203200" y="0"/>
                  </a:moveTo>
                  <a:lnTo>
                    <a:pt x="771220" y="0"/>
                  </a:lnTo>
                  <a:lnTo>
                    <a:pt x="568020" y="155283"/>
                  </a:lnTo>
                  <a:lnTo>
                    <a:pt x="0" y="155283"/>
                  </a:lnTo>
                  <a:lnTo>
                    <a:pt x="203200" y="0"/>
                  </a:lnTo>
                  <a:close/>
                </a:path>
              </a:pathLst>
            </a:custGeom>
            <a:solidFill>
              <a:srgbClr val="25CFFE"/>
            </a:solidFill>
          </p:spPr>
        </p:sp>
        <p:sp>
          <p:nvSpPr>
            <p:cNvPr name="TextBox 4" id="4"/>
            <p:cNvSpPr txBox="true"/>
            <p:nvPr/>
          </p:nvSpPr>
          <p:spPr>
            <a:xfrm>
              <a:off x="101600" y="-47625"/>
              <a:ext cx="568020" cy="202908"/>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028700" y="3556993"/>
            <a:ext cx="14611124" cy="5605163"/>
          </a:xfrm>
          <a:prstGeom prst="rect">
            <a:avLst/>
          </a:prstGeom>
        </p:spPr>
        <p:txBody>
          <a:bodyPr anchor="t" rtlCol="false" tIns="0" lIns="0" bIns="0" rIns="0">
            <a:spAutoFit/>
          </a:bodyPr>
          <a:lstStyle/>
          <a:p>
            <a:pPr algn="l" marL="0" indent="0" lvl="0">
              <a:lnSpc>
                <a:spcPts val="4478"/>
              </a:lnSpc>
            </a:pPr>
            <a:r>
              <a:rPr lang="en-US" sz="3199">
                <a:solidFill>
                  <a:srgbClr val="5C6D7B"/>
                </a:solidFill>
                <a:latin typeface="Questrial"/>
                <a:ea typeface="Questrial"/>
                <a:cs typeface="Questrial"/>
                <a:sym typeface="Questrial"/>
              </a:rPr>
              <a:t>Web server logs generate thousands of lines daily, making manual inspection for suspicious activities impractical and time-consuming.</a:t>
            </a:r>
          </a:p>
          <a:p>
            <a:pPr algn="l" marL="0" indent="0" lvl="0">
              <a:lnSpc>
                <a:spcPts val="4478"/>
              </a:lnSpc>
            </a:pPr>
            <a:r>
              <a:rPr lang="en-US" sz="3199">
                <a:solidFill>
                  <a:srgbClr val="5C6D7B"/>
                </a:solidFill>
                <a:latin typeface="Questrial"/>
                <a:ea typeface="Questrial"/>
                <a:cs typeface="Questrial"/>
                <a:sym typeface="Questrial"/>
              </a:rPr>
              <a:t>LogLens automates the detection of cyber attacks in Apache and Nginx server logs, providing a SIEM-lite solution for security monitoring.</a:t>
            </a:r>
          </a:p>
          <a:p>
            <a:pPr algn="l" marL="0" indent="0" lvl="0">
              <a:lnSpc>
                <a:spcPts val="4478"/>
              </a:lnSpc>
            </a:pPr>
            <a:r>
              <a:rPr lang="en-US" sz="3199">
                <a:solidFill>
                  <a:srgbClr val="5C6D7B"/>
                </a:solidFill>
                <a:latin typeface="Questrial"/>
                <a:ea typeface="Questrial"/>
                <a:cs typeface="Questrial"/>
                <a:sym typeface="Questrial"/>
              </a:rPr>
              <a:t>Developed during a Security Software Engineering Internship, this project addresses real-world challenges faced by system administrators.</a:t>
            </a:r>
          </a:p>
          <a:p>
            <a:pPr algn="l" marL="0" indent="0" lvl="0">
              <a:lnSpc>
                <a:spcPts val="4478"/>
              </a:lnSpc>
            </a:pPr>
            <a:r>
              <a:rPr lang="en-US" sz="3199">
                <a:solidFill>
                  <a:srgbClr val="5C6D7B"/>
                </a:solidFill>
                <a:latin typeface="Questrial"/>
                <a:ea typeface="Questrial"/>
                <a:cs typeface="Questrial"/>
                <a:sym typeface="Questrial"/>
              </a:rPr>
              <a:t>Key Benefits:</a:t>
            </a:r>
          </a:p>
          <a:p>
            <a:pPr algn="l" marL="0" indent="0" lvl="0">
              <a:lnSpc>
                <a:spcPts val="4478"/>
              </a:lnSpc>
            </a:pPr>
            <a:r>
              <a:rPr lang="en-US" sz="3199">
                <a:solidFill>
                  <a:srgbClr val="5C6D7B"/>
                </a:solidFill>
                <a:latin typeface="Questrial"/>
                <a:ea typeface="Questrial"/>
                <a:cs typeface="Questrial"/>
                <a:sym typeface="Questrial"/>
              </a:rPr>
              <a:t>• Saves time by eliminating manual log review</a:t>
            </a:r>
          </a:p>
          <a:p>
            <a:pPr algn="l" marL="0" indent="0" lvl="0">
              <a:lnSpc>
                <a:spcPts val="4478"/>
              </a:lnSpc>
            </a:pPr>
            <a:r>
              <a:rPr lang="en-US" sz="3199">
                <a:solidFill>
                  <a:srgbClr val="5C6D7B"/>
                </a:solidFill>
                <a:latin typeface="Questrial"/>
                <a:ea typeface="Questrial"/>
                <a:cs typeface="Questrial"/>
                <a:sym typeface="Questrial"/>
              </a:rPr>
              <a:t>• Improves security monitoring with automated threat detection</a:t>
            </a:r>
          </a:p>
          <a:p>
            <a:pPr algn="l" marL="0" indent="0" lvl="0">
              <a:lnSpc>
                <a:spcPts val="4478"/>
              </a:lnSpc>
            </a:pPr>
            <a:r>
              <a:rPr lang="en-US" sz="3199">
                <a:solidFill>
                  <a:srgbClr val="5C6D7B"/>
                </a:solidFill>
                <a:latin typeface="Questrial"/>
                <a:ea typeface="Questrial"/>
                <a:cs typeface="Questrial"/>
                <a:sym typeface="Questrial"/>
              </a:rPr>
              <a:t>• Provides structured insights for faster incident response</a:t>
            </a:r>
          </a:p>
        </p:txBody>
      </p:sp>
      <p:grpSp>
        <p:nvGrpSpPr>
          <p:cNvPr name="Group 6" id="6"/>
          <p:cNvGrpSpPr/>
          <p:nvPr/>
        </p:nvGrpSpPr>
        <p:grpSpPr>
          <a:xfrm rot="2700000">
            <a:off x="16459032" y="7163552"/>
            <a:ext cx="1187253" cy="118725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5C6D7B"/>
            </a:solidFill>
          </p:spPr>
        </p:sp>
        <p:sp>
          <p:nvSpPr>
            <p:cNvPr name="TextBox 8" id="8"/>
            <p:cNvSpPr txBox="true"/>
            <p:nvPr/>
          </p:nvSpPr>
          <p:spPr>
            <a:xfrm>
              <a:off x="139700" y="92075"/>
              <a:ext cx="533400" cy="581025"/>
            </a:xfrm>
            <a:prstGeom prst="rect">
              <a:avLst/>
            </a:prstGeom>
          </p:spPr>
          <p:txBody>
            <a:bodyPr anchor="ctr" rtlCol="false" tIns="50800" lIns="50800" bIns="50800" rIns="50800"/>
            <a:lstStyle/>
            <a:p>
              <a:pPr algn="ctr" marL="0" indent="0" lvl="0">
                <a:lnSpc>
                  <a:spcPts val="2659"/>
                </a:lnSpc>
              </a:pPr>
            </a:p>
          </p:txBody>
        </p:sp>
      </p:grpSp>
      <p:sp>
        <p:nvSpPr>
          <p:cNvPr name="TextBox 9" id="9"/>
          <p:cNvSpPr txBox="true"/>
          <p:nvPr/>
        </p:nvSpPr>
        <p:spPr>
          <a:xfrm rot="0">
            <a:off x="1028700" y="914400"/>
            <a:ext cx="5812631" cy="979392"/>
          </a:xfrm>
          <a:prstGeom prst="rect">
            <a:avLst/>
          </a:prstGeom>
        </p:spPr>
        <p:txBody>
          <a:bodyPr anchor="t" rtlCol="false" tIns="0" lIns="0" bIns="0" rIns="0">
            <a:spAutoFit/>
          </a:bodyPr>
          <a:lstStyle/>
          <a:p>
            <a:pPr algn="ctr" marL="0" indent="0" lvl="0">
              <a:lnSpc>
                <a:spcPts val="7967"/>
              </a:lnSpc>
            </a:pPr>
            <a:r>
              <a:rPr lang="en-US" sz="5691">
                <a:solidFill>
                  <a:srgbClr val="FFFFFF"/>
                </a:solidFill>
                <a:latin typeface="Etna Sans Serif"/>
                <a:ea typeface="Etna Sans Serif"/>
                <a:cs typeface="Etna Sans Serif"/>
                <a:sym typeface="Etna Sans Serif"/>
              </a:rPr>
              <a:t>About the Project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694664" y="9330833"/>
            <a:ext cx="3425925" cy="1157288"/>
            <a:chOff x="0" y="0"/>
            <a:chExt cx="902301" cy="304800"/>
          </a:xfrm>
        </p:grpSpPr>
        <p:sp>
          <p:nvSpPr>
            <p:cNvPr name="Freeform 3" id="3"/>
            <p:cNvSpPr/>
            <p:nvPr/>
          </p:nvSpPr>
          <p:spPr>
            <a:xfrm flipH="false" flipV="false" rot="0">
              <a:off x="0" y="0"/>
              <a:ext cx="902301" cy="304800"/>
            </a:xfrm>
            <a:custGeom>
              <a:avLst/>
              <a:gdLst/>
              <a:ahLst/>
              <a:cxnLst/>
              <a:rect r="r" b="b" t="t" l="l"/>
              <a:pathLst>
                <a:path h="304800" w="902301">
                  <a:moveTo>
                    <a:pt x="203200" y="0"/>
                  </a:moveTo>
                  <a:lnTo>
                    <a:pt x="902301" y="0"/>
                  </a:lnTo>
                  <a:lnTo>
                    <a:pt x="699101" y="304800"/>
                  </a:lnTo>
                  <a:lnTo>
                    <a:pt x="0" y="304800"/>
                  </a:lnTo>
                  <a:lnTo>
                    <a:pt x="203200" y="0"/>
                  </a:lnTo>
                  <a:close/>
                </a:path>
              </a:pathLst>
            </a:custGeom>
            <a:solidFill>
              <a:srgbClr val="5C6D7B"/>
            </a:solidFill>
          </p:spPr>
        </p:sp>
        <p:sp>
          <p:nvSpPr>
            <p:cNvPr name="TextBox 4" id="4"/>
            <p:cNvSpPr txBox="true"/>
            <p:nvPr/>
          </p:nvSpPr>
          <p:spPr>
            <a:xfrm>
              <a:off x="101600" y="-47625"/>
              <a:ext cx="699101" cy="352425"/>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14842202" y="6887243"/>
            <a:ext cx="7201755" cy="720175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5CFFE"/>
            </a:solidFill>
          </p:spPr>
        </p:sp>
        <p:sp>
          <p:nvSpPr>
            <p:cNvPr name="TextBox 7" id="7"/>
            <p:cNvSpPr txBox="true"/>
            <p:nvPr/>
          </p:nvSpPr>
          <p:spPr>
            <a:xfrm>
              <a:off x="139700" y="92075"/>
              <a:ext cx="533400" cy="581025"/>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6275668" y="8320710"/>
            <a:ext cx="4334822" cy="433482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5C6D7B"/>
            </a:solidFill>
          </p:spPr>
        </p:sp>
        <p:sp>
          <p:nvSpPr>
            <p:cNvPr name="TextBox 10" id="10"/>
            <p:cNvSpPr txBox="true"/>
            <p:nvPr/>
          </p:nvSpPr>
          <p:spPr>
            <a:xfrm>
              <a:off x="139700" y="92075"/>
              <a:ext cx="533400" cy="581025"/>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1446890" y="9330833"/>
            <a:ext cx="1594647" cy="1157288"/>
            <a:chOff x="0" y="0"/>
            <a:chExt cx="419989" cy="304800"/>
          </a:xfrm>
        </p:grpSpPr>
        <p:sp>
          <p:nvSpPr>
            <p:cNvPr name="Freeform 12" id="12"/>
            <p:cNvSpPr/>
            <p:nvPr/>
          </p:nvSpPr>
          <p:spPr>
            <a:xfrm flipH="false" flipV="false" rot="0">
              <a:off x="0" y="0"/>
              <a:ext cx="419989" cy="304800"/>
            </a:xfrm>
            <a:custGeom>
              <a:avLst/>
              <a:gdLst/>
              <a:ahLst/>
              <a:cxnLst/>
              <a:rect r="r" b="b" t="t" l="l"/>
              <a:pathLst>
                <a:path h="304800" w="419989">
                  <a:moveTo>
                    <a:pt x="203200" y="0"/>
                  </a:moveTo>
                  <a:lnTo>
                    <a:pt x="419989" y="0"/>
                  </a:lnTo>
                  <a:lnTo>
                    <a:pt x="216789" y="304800"/>
                  </a:lnTo>
                  <a:lnTo>
                    <a:pt x="0" y="304800"/>
                  </a:lnTo>
                  <a:lnTo>
                    <a:pt x="203200" y="0"/>
                  </a:lnTo>
                  <a:close/>
                </a:path>
              </a:pathLst>
            </a:custGeom>
            <a:solidFill>
              <a:srgbClr val="5C6D7B"/>
            </a:solidFill>
          </p:spPr>
        </p:sp>
        <p:sp>
          <p:nvSpPr>
            <p:cNvPr name="TextBox 13" id="13"/>
            <p:cNvSpPr txBox="true"/>
            <p:nvPr/>
          </p:nvSpPr>
          <p:spPr>
            <a:xfrm>
              <a:off x="101600" y="-47625"/>
              <a:ext cx="216789" cy="352425"/>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2700000">
            <a:off x="16442911" y="8388207"/>
            <a:ext cx="1372954" cy="1480362"/>
            <a:chOff x="0" y="0"/>
            <a:chExt cx="753827" cy="812800"/>
          </a:xfrm>
        </p:grpSpPr>
        <p:sp>
          <p:nvSpPr>
            <p:cNvPr name="Freeform 15" id="15"/>
            <p:cNvSpPr/>
            <p:nvPr/>
          </p:nvSpPr>
          <p:spPr>
            <a:xfrm flipH="false" flipV="false" rot="0">
              <a:off x="0" y="0"/>
              <a:ext cx="753827" cy="812800"/>
            </a:xfrm>
            <a:custGeom>
              <a:avLst/>
              <a:gdLst/>
              <a:ahLst/>
              <a:cxnLst/>
              <a:rect r="r" b="b" t="t" l="l"/>
              <a:pathLst>
                <a:path h="812800" w="753827">
                  <a:moveTo>
                    <a:pt x="376914" y="0"/>
                  </a:moveTo>
                  <a:lnTo>
                    <a:pt x="753827" y="406400"/>
                  </a:lnTo>
                  <a:lnTo>
                    <a:pt x="376914" y="812800"/>
                  </a:lnTo>
                  <a:lnTo>
                    <a:pt x="0" y="406400"/>
                  </a:lnTo>
                  <a:lnTo>
                    <a:pt x="376914" y="0"/>
                  </a:lnTo>
                  <a:close/>
                </a:path>
              </a:pathLst>
            </a:custGeom>
            <a:solidFill>
              <a:srgbClr val="25CFFE"/>
            </a:solidFill>
          </p:spPr>
        </p:sp>
        <p:sp>
          <p:nvSpPr>
            <p:cNvPr name="TextBox 16" id="16"/>
            <p:cNvSpPr txBox="true"/>
            <p:nvPr/>
          </p:nvSpPr>
          <p:spPr>
            <a:xfrm>
              <a:off x="129564" y="92075"/>
              <a:ext cx="494699" cy="581025"/>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1709791" y="-1095321"/>
            <a:ext cx="11969329" cy="3503019"/>
            <a:chOff x="0" y="0"/>
            <a:chExt cx="1041459" cy="304800"/>
          </a:xfrm>
        </p:grpSpPr>
        <p:sp>
          <p:nvSpPr>
            <p:cNvPr name="Freeform 18" id="18"/>
            <p:cNvSpPr/>
            <p:nvPr/>
          </p:nvSpPr>
          <p:spPr>
            <a:xfrm flipH="false" flipV="false" rot="0">
              <a:off x="0" y="0"/>
              <a:ext cx="1041459" cy="304800"/>
            </a:xfrm>
            <a:custGeom>
              <a:avLst/>
              <a:gdLst/>
              <a:ahLst/>
              <a:cxnLst/>
              <a:rect r="r" b="b" t="t" l="l"/>
              <a:pathLst>
                <a:path h="304800" w="1041459">
                  <a:moveTo>
                    <a:pt x="203200" y="0"/>
                  </a:moveTo>
                  <a:lnTo>
                    <a:pt x="1041459" y="0"/>
                  </a:lnTo>
                  <a:lnTo>
                    <a:pt x="838259" y="304800"/>
                  </a:lnTo>
                  <a:lnTo>
                    <a:pt x="0" y="304800"/>
                  </a:lnTo>
                  <a:lnTo>
                    <a:pt x="203200" y="0"/>
                  </a:lnTo>
                  <a:close/>
                </a:path>
              </a:pathLst>
            </a:custGeom>
            <a:solidFill>
              <a:srgbClr val="25CFFE"/>
            </a:solidFill>
          </p:spPr>
        </p:sp>
        <p:sp>
          <p:nvSpPr>
            <p:cNvPr name="TextBox 19" id="19"/>
            <p:cNvSpPr txBox="true"/>
            <p:nvPr/>
          </p:nvSpPr>
          <p:spPr>
            <a:xfrm>
              <a:off x="101600" y="-47625"/>
              <a:ext cx="838259" cy="352425"/>
            </a:xfrm>
            <a:prstGeom prst="rect">
              <a:avLst/>
            </a:prstGeom>
          </p:spPr>
          <p:txBody>
            <a:bodyPr anchor="ctr" rtlCol="false" tIns="50800" lIns="50800" bIns="50800" rIns="50800"/>
            <a:lstStyle/>
            <a:p>
              <a:pPr algn="ctr" marL="0" indent="0" lvl="0">
                <a:lnSpc>
                  <a:spcPts val="2659"/>
                </a:lnSpc>
              </a:pPr>
            </a:p>
          </p:txBody>
        </p:sp>
      </p:grpSp>
      <p:sp>
        <p:nvSpPr>
          <p:cNvPr name="TextBox 20" id="20"/>
          <p:cNvSpPr txBox="true"/>
          <p:nvPr/>
        </p:nvSpPr>
        <p:spPr>
          <a:xfrm rot="0">
            <a:off x="1028700" y="952500"/>
            <a:ext cx="6267613" cy="712882"/>
          </a:xfrm>
          <a:prstGeom prst="rect">
            <a:avLst/>
          </a:prstGeom>
        </p:spPr>
        <p:txBody>
          <a:bodyPr anchor="t" rtlCol="false" tIns="0" lIns="0" bIns="0" rIns="0">
            <a:spAutoFit/>
          </a:bodyPr>
          <a:lstStyle/>
          <a:p>
            <a:pPr algn="l" marL="0" indent="0" lvl="0">
              <a:lnSpc>
                <a:spcPts val="5857"/>
              </a:lnSpc>
            </a:pPr>
            <a:r>
              <a:rPr lang="en-US" sz="4183">
                <a:solidFill>
                  <a:srgbClr val="FFFFFF"/>
                </a:solidFill>
                <a:latin typeface="Etna Sans Serif"/>
                <a:ea typeface="Etna Sans Serif"/>
                <a:cs typeface="Etna Sans Serif"/>
                <a:sym typeface="Etna Sans Serif"/>
              </a:rPr>
              <a:t>Main Feature - Log Parsing</a:t>
            </a:r>
          </a:p>
        </p:txBody>
      </p:sp>
      <p:sp>
        <p:nvSpPr>
          <p:cNvPr name="TextBox 21" id="21"/>
          <p:cNvSpPr txBox="true"/>
          <p:nvPr/>
        </p:nvSpPr>
        <p:spPr>
          <a:xfrm rot="0">
            <a:off x="1028700" y="3403973"/>
            <a:ext cx="14119399" cy="3817223"/>
          </a:xfrm>
          <a:prstGeom prst="rect">
            <a:avLst/>
          </a:prstGeom>
        </p:spPr>
        <p:txBody>
          <a:bodyPr anchor="t" rtlCol="false" tIns="0" lIns="0" bIns="0" rIns="0">
            <a:spAutoFit/>
          </a:bodyPr>
          <a:lstStyle/>
          <a:p>
            <a:pPr algn="l" marL="0" indent="0" lvl="0">
              <a:lnSpc>
                <a:spcPts val="3801"/>
              </a:lnSpc>
              <a:spcBef>
                <a:spcPct val="0"/>
              </a:spcBef>
            </a:pPr>
            <a:r>
              <a:rPr lang="en-US" sz="2715">
                <a:solidFill>
                  <a:srgbClr val="5C6D7B"/>
                </a:solidFill>
                <a:latin typeface="Arimo"/>
                <a:ea typeface="Arimo"/>
                <a:cs typeface="Arimo"/>
                <a:sym typeface="Arimo"/>
              </a:rPr>
              <a:t>LogLens processes raw Apache and Nginx server log files line-by-line, enabling efficient handling of large files without memory overload. The parser extracts crucial fields from each log entry: IP Address, Timestamp, HTTP Method, Request Path, Status Code, and User Agent.</a:t>
            </a:r>
          </a:p>
          <a:p>
            <a:pPr algn="l" marL="0" indent="0" lvl="0">
              <a:lnSpc>
                <a:spcPts val="3801"/>
              </a:lnSpc>
              <a:spcBef>
                <a:spcPct val="0"/>
              </a:spcBef>
            </a:pPr>
            <a:r>
              <a:rPr lang="en-US" sz="2715">
                <a:solidFill>
                  <a:srgbClr val="5C6D7B"/>
                </a:solidFill>
                <a:latin typeface="Arimo"/>
                <a:ea typeface="Arimo"/>
                <a:cs typeface="Arimo"/>
                <a:sym typeface="Arimo"/>
              </a:rPr>
              <a:t>Using Regular Expressions (Regex), LogLens converts unstructured raw log data into structured JSON format. This transformation is essential for automated analysis, allowing the system to systematically examine each request for suspicious patterns. The structured data serves as the foundation for all attack detection and security analysis features.</a:t>
            </a:r>
          </a:p>
        </p:txBody>
      </p:sp>
      <p:grpSp>
        <p:nvGrpSpPr>
          <p:cNvPr name="Group 22" id="22"/>
          <p:cNvGrpSpPr/>
          <p:nvPr/>
        </p:nvGrpSpPr>
        <p:grpSpPr>
          <a:xfrm rot="-2700000">
            <a:off x="15997148" y="7980206"/>
            <a:ext cx="1372954" cy="1480362"/>
            <a:chOff x="0" y="0"/>
            <a:chExt cx="753827" cy="812800"/>
          </a:xfrm>
        </p:grpSpPr>
        <p:sp>
          <p:nvSpPr>
            <p:cNvPr name="Freeform 23" id="23"/>
            <p:cNvSpPr/>
            <p:nvPr/>
          </p:nvSpPr>
          <p:spPr>
            <a:xfrm flipH="false" flipV="false" rot="0">
              <a:off x="0" y="0"/>
              <a:ext cx="753827" cy="812800"/>
            </a:xfrm>
            <a:custGeom>
              <a:avLst/>
              <a:gdLst/>
              <a:ahLst/>
              <a:cxnLst/>
              <a:rect r="r" b="b" t="t" l="l"/>
              <a:pathLst>
                <a:path h="812800" w="753827">
                  <a:moveTo>
                    <a:pt x="376914" y="0"/>
                  </a:moveTo>
                  <a:lnTo>
                    <a:pt x="753827" y="406400"/>
                  </a:lnTo>
                  <a:lnTo>
                    <a:pt x="376914" y="812800"/>
                  </a:lnTo>
                  <a:lnTo>
                    <a:pt x="0" y="406400"/>
                  </a:lnTo>
                  <a:lnTo>
                    <a:pt x="376914" y="0"/>
                  </a:lnTo>
                  <a:close/>
                </a:path>
              </a:pathLst>
            </a:custGeom>
            <a:solidFill>
              <a:srgbClr val="5C6D7B"/>
            </a:solidFill>
          </p:spPr>
        </p:sp>
        <p:sp>
          <p:nvSpPr>
            <p:cNvPr name="TextBox 24" id="24"/>
            <p:cNvSpPr txBox="true"/>
            <p:nvPr/>
          </p:nvSpPr>
          <p:spPr>
            <a:xfrm>
              <a:off x="129564" y="92075"/>
              <a:ext cx="494699" cy="581025"/>
            </a:xfrm>
            <a:prstGeom prst="rect">
              <a:avLst/>
            </a:prstGeom>
          </p:spPr>
          <p:txBody>
            <a:bodyPr anchor="ctr" rtlCol="false" tIns="50800" lIns="50800" bIns="50800" rIns="50800"/>
            <a:lstStyle/>
            <a:p>
              <a:pPr algn="ctr" marL="0" indent="0" lvl="0">
                <a:lnSpc>
                  <a:spcPts val="2659"/>
                </a:lnSpc>
              </a:pP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403903" y="-113275"/>
            <a:ext cx="11547903" cy="2688359"/>
            <a:chOff x="0" y="0"/>
            <a:chExt cx="1118892" cy="260479"/>
          </a:xfrm>
        </p:grpSpPr>
        <p:sp>
          <p:nvSpPr>
            <p:cNvPr name="Freeform 3" id="3"/>
            <p:cNvSpPr/>
            <p:nvPr/>
          </p:nvSpPr>
          <p:spPr>
            <a:xfrm flipH="false" flipV="false" rot="0">
              <a:off x="0" y="0"/>
              <a:ext cx="1118892" cy="260479"/>
            </a:xfrm>
            <a:custGeom>
              <a:avLst/>
              <a:gdLst/>
              <a:ahLst/>
              <a:cxnLst/>
              <a:rect r="r" b="b" t="t" l="l"/>
              <a:pathLst>
                <a:path h="260479" w="1118892">
                  <a:moveTo>
                    <a:pt x="203200" y="0"/>
                  </a:moveTo>
                  <a:lnTo>
                    <a:pt x="1118892" y="0"/>
                  </a:lnTo>
                  <a:lnTo>
                    <a:pt x="915692" y="260479"/>
                  </a:lnTo>
                  <a:lnTo>
                    <a:pt x="0" y="260479"/>
                  </a:lnTo>
                  <a:lnTo>
                    <a:pt x="203200" y="0"/>
                  </a:lnTo>
                  <a:close/>
                </a:path>
              </a:pathLst>
            </a:custGeom>
            <a:solidFill>
              <a:srgbClr val="5C6D7B"/>
            </a:solidFill>
          </p:spPr>
        </p:sp>
        <p:sp>
          <p:nvSpPr>
            <p:cNvPr name="TextBox 4" id="4"/>
            <p:cNvSpPr txBox="true"/>
            <p:nvPr/>
          </p:nvSpPr>
          <p:spPr>
            <a:xfrm>
              <a:off x="101600" y="-47625"/>
              <a:ext cx="915692" cy="308104"/>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1028700" y="3792247"/>
            <a:ext cx="22353355" cy="7071836"/>
            <a:chOff x="0" y="0"/>
            <a:chExt cx="1926884" cy="609600"/>
          </a:xfrm>
        </p:grpSpPr>
        <p:sp>
          <p:nvSpPr>
            <p:cNvPr name="Freeform 6" id="6"/>
            <p:cNvSpPr/>
            <p:nvPr/>
          </p:nvSpPr>
          <p:spPr>
            <a:xfrm flipH="false" flipV="false" rot="0">
              <a:off x="0" y="0"/>
              <a:ext cx="1926884" cy="609600"/>
            </a:xfrm>
            <a:custGeom>
              <a:avLst/>
              <a:gdLst/>
              <a:ahLst/>
              <a:cxnLst/>
              <a:rect r="r" b="b" t="t" l="l"/>
              <a:pathLst>
                <a:path h="609600" w="1926884">
                  <a:moveTo>
                    <a:pt x="203200" y="0"/>
                  </a:moveTo>
                  <a:lnTo>
                    <a:pt x="1723684" y="0"/>
                  </a:lnTo>
                  <a:lnTo>
                    <a:pt x="1926884" y="609600"/>
                  </a:lnTo>
                  <a:lnTo>
                    <a:pt x="0" y="609600"/>
                  </a:lnTo>
                  <a:lnTo>
                    <a:pt x="203200" y="0"/>
                  </a:lnTo>
                  <a:close/>
                </a:path>
              </a:pathLst>
            </a:custGeom>
            <a:solidFill>
              <a:srgbClr val="25CFFE"/>
            </a:solidFill>
          </p:spPr>
        </p:sp>
        <p:sp>
          <p:nvSpPr>
            <p:cNvPr name="TextBox 7" id="7"/>
            <p:cNvSpPr txBox="true"/>
            <p:nvPr/>
          </p:nvSpPr>
          <p:spPr>
            <a:xfrm>
              <a:off x="127000" y="-47625"/>
              <a:ext cx="1672884" cy="6572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1028700" y="962025"/>
            <a:ext cx="5594865" cy="1268571"/>
          </a:xfrm>
          <a:prstGeom prst="rect">
            <a:avLst/>
          </a:prstGeom>
        </p:spPr>
        <p:txBody>
          <a:bodyPr anchor="t" rtlCol="false" tIns="0" lIns="0" bIns="0" rIns="0">
            <a:spAutoFit/>
          </a:bodyPr>
          <a:lstStyle/>
          <a:p>
            <a:pPr algn="l" marL="0" indent="0" lvl="0">
              <a:lnSpc>
                <a:spcPts val="5153"/>
              </a:lnSpc>
            </a:pPr>
            <a:r>
              <a:rPr lang="en-US" sz="3681">
                <a:solidFill>
                  <a:srgbClr val="FFFFFF"/>
                </a:solidFill>
                <a:latin typeface="Etna Sans Serif"/>
                <a:ea typeface="Etna Sans Serif"/>
                <a:cs typeface="Etna Sans Serif"/>
                <a:sym typeface="Etna Sans Serif"/>
              </a:rPr>
              <a:t>Main Feature - Attack Detection</a:t>
            </a:r>
          </a:p>
        </p:txBody>
      </p:sp>
      <p:sp>
        <p:nvSpPr>
          <p:cNvPr name="TextBox 9" id="9"/>
          <p:cNvSpPr txBox="true"/>
          <p:nvPr/>
        </p:nvSpPr>
        <p:spPr>
          <a:xfrm rot="0">
            <a:off x="4109211" y="4828523"/>
            <a:ext cx="13150089" cy="3854903"/>
          </a:xfrm>
          <a:prstGeom prst="rect">
            <a:avLst/>
          </a:prstGeom>
        </p:spPr>
        <p:txBody>
          <a:bodyPr anchor="t" rtlCol="false" tIns="0" lIns="0" bIns="0" rIns="0">
            <a:spAutoFit/>
          </a:bodyPr>
          <a:lstStyle/>
          <a:p>
            <a:pPr algn="l" marL="0" indent="0" lvl="0">
              <a:lnSpc>
                <a:spcPts val="4350"/>
              </a:lnSpc>
            </a:pPr>
            <a:r>
              <a:rPr lang="en-US" sz="3107">
                <a:solidFill>
                  <a:srgbClr val="5C6D7B"/>
                </a:solidFill>
                <a:latin typeface="Questrial"/>
                <a:ea typeface="Questrial"/>
                <a:cs typeface="Questrial"/>
                <a:sym typeface="Questrial"/>
              </a:rPr>
              <a:t>LogLens detects a range of common web attacks including: SQL Injection, Cross-site Scripting (XSS), Directory Traversal, Command Injection, File Inclusion, Brute Force Attempts, and Scanner Bots.</a:t>
            </a:r>
          </a:p>
          <a:p>
            <a:pPr algn="l" marL="0" indent="0" lvl="0">
              <a:lnSpc>
                <a:spcPts val="4350"/>
              </a:lnSpc>
            </a:pPr>
            <a:r>
              <a:rPr lang="en-US" sz="3107">
                <a:solidFill>
                  <a:srgbClr val="5C6D7B"/>
                </a:solidFill>
                <a:latin typeface="Questrial"/>
                <a:ea typeface="Questrial"/>
                <a:cs typeface="Questrial"/>
                <a:sym typeface="Questrial"/>
              </a:rPr>
              <a:t>Each detected attack is automatically tagged with: Attack Type, Severity Level, Source IP, and Timestamp.</a:t>
            </a:r>
          </a:p>
          <a:p>
            <a:pPr algn="l" marL="0" indent="0" lvl="0">
              <a:lnSpc>
                <a:spcPts val="4350"/>
              </a:lnSpc>
            </a:pPr>
            <a:r>
              <a:rPr lang="en-US" sz="3107">
                <a:solidFill>
                  <a:srgbClr val="5C6D7B"/>
                </a:solidFill>
                <a:latin typeface="Questrial"/>
                <a:ea typeface="Questrial"/>
                <a:cs typeface="Questrial"/>
                <a:sym typeface="Questrial"/>
              </a:rPr>
              <a:t>This structured approach facilitates early warning systems and enables faster incident response for system administrators.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494611" y="-151033"/>
            <a:ext cx="12648341" cy="2721037"/>
            <a:chOff x="0" y="0"/>
            <a:chExt cx="2007086" cy="431784"/>
          </a:xfrm>
        </p:grpSpPr>
        <p:sp>
          <p:nvSpPr>
            <p:cNvPr name="Freeform 3" id="3"/>
            <p:cNvSpPr/>
            <p:nvPr/>
          </p:nvSpPr>
          <p:spPr>
            <a:xfrm flipH="false" flipV="false" rot="0">
              <a:off x="0" y="0"/>
              <a:ext cx="2007086" cy="431784"/>
            </a:xfrm>
            <a:custGeom>
              <a:avLst/>
              <a:gdLst/>
              <a:ahLst/>
              <a:cxnLst/>
              <a:rect r="r" b="b" t="t" l="l"/>
              <a:pathLst>
                <a:path h="431784" w="2007086">
                  <a:moveTo>
                    <a:pt x="203200" y="0"/>
                  </a:moveTo>
                  <a:lnTo>
                    <a:pt x="2007086" y="0"/>
                  </a:lnTo>
                  <a:lnTo>
                    <a:pt x="1803886" y="431784"/>
                  </a:lnTo>
                  <a:lnTo>
                    <a:pt x="0" y="431784"/>
                  </a:lnTo>
                  <a:lnTo>
                    <a:pt x="203200" y="0"/>
                  </a:lnTo>
                  <a:close/>
                </a:path>
              </a:pathLst>
            </a:custGeom>
            <a:solidFill>
              <a:srgbClr val="5C6D7B"/>
            </a:solidFill>
          </p:spPr>
        </p:sp>
        <p:sp>
          <p:nvSpPr>
            <p:cNvPr name="TextBox 4" id="4"/>
            <p:cNvSpPr txBox="true"/>
            <p:nvPr/>
          </p:nvSpPr>
          <p:spPr>
            <a:xfrm>
              <a:off x="101600" y="-47625"/>
              <a:ext cx="1803886" cy="479409"/>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028700" y="3525876"/>
            <a:ext cx="14512597" cy="5323508"/>
          </a:xfrm>
          <a:prstGeom prst="rect">
            <a:avLst/>
          </a:prstGeom>
        </p:spPr>
        <p:txBody>
          <a:bodyPr anchor="t" rtlCol="false" tIns="0" lIns="0" bIns="0" rIns="0">
            <a:spAutoFit/>
          </a:bodyPr>
          <a:lstStyle/>
          <a:p>
            <a:pPr algn="l" marL="0" indent="0" lvl="0">
              <a:lnSpc>
                <a:spcPts val="4253"/>
              </a:lnSpc>
              <a:spcBef>
                <a:spcPct val="0"/>
              </a:spcBef>
            </a:pPr>
            <a:r>
              <a:rPr lang="en-US" sz="3038">
                <a:solidFill>
                  <a:srgbClr val="5C6D7B"/>
                </a:solidFill>
                <a:latin typeface="Questrial"/>
                <a:ea typeface="Questrial"/>
                <a:cs typeface="Questrial"/>
                <a:sym typeface="Questrial"/>
              </a:rPr>
              <a:t>The LogLens dashboard provides comprehensive visualization of attack data through multiple interactive components. The Attack Timeline Graph displays attacks over time, allowing administrators to identify patterns and peak threat periods. An Attack Distribution Pie Chart breaks down incidents by attack type for quick threat categorization. The Country-wise Attack Analysis bar chart reveals geographic origins of attacks, while a detailed table lists Top Attackers by IP address and count.</a:t>
            </a:r>
          </a:p>
          <a:p>
            <a:pPr algn="l" marL="0" indent="0" lvl="0">
              <a:lnSpc>
                <a:spcPts val="4253"/>
              </a:lnSpc>
              <a:spcBef>
                <a:spcPct val="0"/>
              </a:spcBef>
            </a:pPr>
            <a:r>
              <a:rPr lang="en-US" sz="3038">
                <a:solidFill>
                  <a:srgbClr val="5C6D7B"/>
                </a:solidFill>
                <a:latin typeface="Questrial"/>
                <a:ea typeface="Questrial"/>
                <a:cs typeface="Questrial"/>
                <a:sym typeface="Questrial"/>
              </a:rPr>
              <a:t>Additional features enhance usability: PDF report export enables sharing findings with stakeholders, auto-refresh provides near real-time updates without manual intervention, and demo log loading allows users to explore functionality with sample data.</a:t>
            </a:r>
          </a:p>
        </p:txBody>
      </p:sp>
      <p:grpSp>
        <p:nvGrpSpPr>
          <p:cNvPr name="Group 6" id="6"/>
          <p:cNvGrpSpPr/>
          <p:nvPr/>
        </p:nvGrpSpPr>
        <p:grpSpPr>
          <a:xfrm rot="0">
            <a:off x="8655211" y="9526460"/>
            <a:ext cx="10382258" cy="911646"/>
            <a:chOff x="0" y="0"/>
            <a:chExt cx="2734422" cy="240104"/>
          </a:xfrm>
        </p:grpSpPr>
        <p:sp>
          <p:nvSpPr>
            <p:cNvPr name="Freeform 7" id="7"/>
            <p:cNvSpPr/>
            <p:nvPr/>
          </p:nvSpPr>
          <p:spPr>
            <a:xfrm flipH="false" flipV="false" rot="0">
              <a:off x="0" y="0"/>
              <a:ext cx="2734422" cy="240104"/>
            </a:xfrm>
            <a:custGeom>
              <a:avLst/>
              <a:gdLst/>
              <a:ahLst/>
              <a:cxnLst/>
              <a:rect r="r" b="b" t="t" l="l"/>
              <a:pathLst>
                <a:path h="240104" w="2734422">
                  <a:moveTo>
                    <a:pt x="203200" y="0"/>
                  </a:moveTo>
                  <a:lnTo>
                    <a:pt x="2734422" y="0"/>
                  </a:lnTo>
                  <a:lnTo>
                    <a:pt x="2531222" y="240104"/>
                  </a:lnTo>
                  <a:lnTo>
                    <a:pt x="0" y="240104"/>
                  </a:lnTo>
                  <a:lnTo>
                    <a:pt x="203200" y="0"/>
                  </a:lnTo>
                  <a:close/>
                </a:path>
              </a:pathLst>
            </a:custGeom>
            <a:solidFill>
              <a:srgbClr val="5C6D7B"/>
            </a:solidFill>
          </p:spPr>
        </p:sp>
        <p:sp>
          <p:nvSpPr>
            <p:cNvPr name="TextBox 8" id="8"/>
            <p:cNvSpPr txBox="true"/>
            <p:nvPr/>
          </p:nvSpPr>
          <p:spPr>
            <a:xfrm>
              <a:off x="101600" y="-47625"/>
              <a:ext cx="2531222" cy="287729"/>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8962513" y="9526460"/>
            <a:ext cx="10382258" cy="911646"/>
            <a:chOff x="0" y="0"/>
            <a:chExt cx="2734422" cy="240104"/>
          </a:xfrm>
        </p:grpSpPr>
        <p:sp>
          <p:nvSpPr>
            <p:cNvPr name="Freeform 10" id="10"/>
            <p:cNvSpPr/>
            <p:nvPr/>
          </p:nvSpPr>
          <p:spPr>
            <a:xfrm flipH="false" flipV="false" rot="0">
              <a:off x="0" y="0"/>
              <a:ext cx="2734422" cy="240104"/>
            </a:xfrm>
            <a:custGeom>
              <a:avLst/>
              <a:gdLst/>
              <a:ahLst/>
              <a:cxnLst/>
              <a:rect r="r" b="b" t="t" l="l"/>
              <a:pathLst>
                <a:path h="240104" w="2734422">
                  <a:moveTo>
                    <a:pt x="203200" y="0"/>
                  </a:moveTo>
                  <a:lnTo>
                    <a:pt x="2734422" y="0"/>
                  </a:lnTo>
                  <a:lnTo>
                    <a:pt x="2531222" y="240104"/>
                  </a:lnTo>
                  <a:lnTo>
                    <a:pt x="0" y="240104"/>
                  </a:lnTo>
                  <a:lnTo>
                    <a:pt x="203200" y="0"/>
                  </a:lnTo>
                  <a:close/>
                </a:path>
              </a:pathLst>
            </a:custGeom>
            <a:solidFill>
              <a:srgbClr val="25CFFE"/>
            </a:solidFill>
          </p:spPr>
        </p:sp>
        <p:sp>
          <p:nvSpPr>
            <p:cNvPr name="TextBox 11" id="11"/>
            <p:cNvSpPr txBox="true"/>
            <p:nvPr/>
          </p:nvSpPr>
          <p:spPr>
            <a:xfrm>
              <a:off x="101600" y="-47625"/>
              <a:ext cx="2531222" cy="287729"/>
            </a:xfrm>
            <a:prstGeom prst="rect">
              <a:avLst/>
            </a:prstGeom>
          </p:spPr>
          <p:txBody>
            <a:bodyPr anchor="ctr" rtlCol="false" tIns="50800" lIns="50800" bIns="50800" rIns="50800"/>
            <a:lstStyle/>
            <a:p>
              <a:pPr algn="ctr" marL="0" indent="0" lvl="0">
                <a:lnSpc>
                  <a:spcPts val="2659"/>
                </a:lnSpc>
              </a:pPr>
            </a:p>
          </p:txBody>
        </p:sp>
      </p:grpSp>
      <p:sp>
        <p:nvSpPr>
          <p:cNvPr name="TextBox 12" id="12"/>
          <p:cNvSpPr txBox="true"/>
          <p:nvPr/>
        </p:nvSpPr>
        <p:spPr>
          <a:xfrm rot="0">
            <a:off x="1058670" y="885825"/>
            <a:ext cx="7903843" cy="1187737"/>
          </a:xfrm>
          <a:prstGeom prst="rect">
            <a:avLst/>
          </a:prstGeom>
        </p:spPr>
        <p:txBody>
          <a:bodyPr anchor="t" rtlCol="false" tIns="0" lIns="0" bIns="0" rIns="0">
            <a:spAutoFit/>
          </a:bodyPr>
          <a:lstStyle/>
          <a:p>
            <a:pPr algn="l" marL="0" indent="0" lvl="0">
              <a:lnSpc>
                <a:spcPts val="9609"/>
              </a:lnSpc>
            </a:pPr>
            <a:r>
              <a:rPr lang="en-US" sz="6863">
                <a:solidFill>
                  <a:srgbClr val="FFFFFF"/>
                </a:solidFill>
                <a:latin typeface="Etna Sans Serif"/>
                <a:ea typeface="Etna Sans Serif"/>
                <a:cs typeface="Etna Sans Serif"/>
                <a:sym typeface="Etna Sans Serif"/>
              </a:rPr>
              <a:t>Dashboard Features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32369" y="-132154"/>
            <a:ext cx="12648341" cy="2698112"/>
            <a:chOff x="0" y="0"/>
            <a:chExt cx="2007086" cy="428146"/>
          </a:xfrm>
        </p:grpSpPr>
        <p:sp>
          <p:nvSpPr>
            <p:cNvPr name="Freeform 3" id="3"/>
            <p:cNvSpPr/>
            <p:nvPr/>
          </p:nvSpPr>
          <p:spPr>
            <a:xfrm flipH="false" flipV="false" rot="0">
              <a:off x="0" y="0"/>
              <a:ext cx="2007086" cy="428146"/>
            </a:xfrm>
            <a:custGeom>
              <a:avLst/>
              <a:gdLst/>
              <a:ahLst/>
              <a:cxnLst/>
              <a:rect r="r" b="b" t="t" l="l"/>
              <a:pathLst>
                <a:path h="428146" w="2007086">
                  <a:moveTo>
                    <a:pt x="203200" y="0"/>
                  </a:moveTo>
                  <a:lnTo>
                    <a:pt x="2007086" y="0"/>
                  </a:lnTo>
                  <a:lnTo>
                    <a:pt x="1803886" y="428146"/>
                  </a:lnTo>
                  <a:lnTo>
                    <a:pt x="0" y="428146"/>
                  </a:lnTo>
                  <a:lnTo>
                    <a:pt x="203200" y="0"/>
                  </a:lnTo>
                  <a:close/>
                </a:path>
              </a:pathLst>
            </a:custGeom>
            <a:solidFill>
              <a:srgbClr val="25CFFE"/>
            </a:solidFill>
          </p:spPr>
        </p:sp>
        <p:sp>
          <p:nvSpPr>
            <p:cNvPr name="TextBox 4" id="4"/>
            <p:cNvSpPr txBox="true"/>
            <p:nvPr/>
          </p:nvSpPr>
          <p:spPr>
            <a:xfrm>
              <a:off x="101600" y="-47625"/>
              <a:ext cx="1803886" cy="475771"/>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058670" y="885825"/>
            <a:ext cx="7903843" cy="1300879"/>
          </a:xfrm>
          <a:prstGeom prst="rect">
            <a:avLst/>
          </a:prstGeom>
        </p:spPr>
        <p:txBody>
          <a:bodyPr anchor="t" rtlCol="false" tIns="0" lIns="0" bIns="0" rIns="0">
            <a:spAutoFit/>
          </a:bodyPr>
          <a:lstStyle/>
          <a:p>
            <a:pPr algn="l" marL="0" indent="0" lvl="0">
              <a:lnSpc>
                <a:spcPts val="10723"/>
              </a:lnSpc>
            </a:pPr>
            <a:r>
              <a:rPr lang="en-US" sz="7659">
                <a:solidFill>
                  <a:srgbClr val="FFFFFF"/>
                </a:solidFill>
                <a:latin typeface="Etna Sans Serif"/>
                <a:ea typeface="Etna Sans Serif"/>
                <a:cs typeface="Etna Sans Serif"/>
                <a:sym typeface="Etna Sans Serif"/>
              </a:rPr>
              <a:t>Technologies Used</a:t>
            </a:r>
          </a:p>
        </p:txBody>
      </p:sp>
      <p:sp>
        <p:nvSpPr>
          <p:cNvPr name="TextBox 6" id="6"/>
          <p:cNvSpPr txBox="true"/>
          <p:nvPr/>
        </p:nvSpPr>
        <p:spPr>
          <a:xfrm rot="0">
            <a:off x="1028700" y="3551135"/>
            <a:ext cx="15173367" cy="5473899"/>
          </a:xfrm>
          <a:prstGeom prst="rect">
            <a:avLst/>
          </a:prstGeom>
        </p:spPr>
        <p:txBody>
          <a:bodyPr anchor="t" rtlCol="false" tIns="0" lIns="0" bIns="0" rIns="0">
            <a:spAutoFit/>
          </a:bodyPr>
          <a:lstStyle/>
          <a:p>
            <a:pPr algn="l" marL="0" indent="0" lvl="0">
              <a:lnSpc>
                <a:spcPts val="5414"/>
              </a:lnSpc>
            </a:pPr>
            <a:r>
              <a:rPr lang="en-US" sz="3867">
                <a:solidFill>
                  <a:srgbClr val="5C6D7B"/>
                </a:solidFill>
                <a:latin typeface="Questrial"/>
                <a:ea typeface="Questrial"/>
                <a:cs typeface="Questrial"/>
                <a:sym typeface="Questrial"/>
              </a:rPr>
              <a:t>Frontend: React.js framework with Recharts library for charting and visualizations, enabling interactive dashboards and data presentation.</a:t>
            </a:r>
          </a:p>
          <a:p>
            <a:pPr algn="l" marL="0" indent="0" lvl="0">
              <a:lnSpc>
                <a:spcPts val="5414"/>
              </a:lnSpc>
            </a:pPr>
            <a:r>
              <a:rPr lang="en-US" sz="3867">
                <a:solidFill>
                  <a:srgbClr val="5C6D7B"/>
                </a:solidFill>
                <a:latin typeface="Questrial"/>
                <a:ea typeface="Questrial"/>
                <a:cs typeface="Questrial"/>
                <a:sym typeface="Questrial"/>
              </a:rPr>
              <a:t>Backend: Python Flask server handling API requests, log parsing, and attack detection. Regex used extensively for parsing and pattern matching in log analysis.</a:t>
            </a:r>
          </a:p>
          <a:p>
            <a:pPr algn="l" marL="0" indent="0" lvl="0">
              <a:lnSpc>
                <a:spcPts val="5414"/>
              </a:lnSpc>
            </a:pPr>
            <a:r>
              <a:rPr lang="en-US" sz="3867">
                <a:solidFill>
                  <a:srgbClr val="5C6D7B"/>
                </a:solidFill>
                <a:latin typeface="Questrial"/>
                <a:ea typeface="Questrial"/>
                <a:cs typeface="Questrial"/>
                <a:sym typeface="Questrial"/>
              </a:rPr>
              <a:t>Supporting Libraries: flask-cors for cross-origin handling, reportlab for PDF report generation, and requests for HTTP handling.</a:t>
            </a:r>
          </a:p>
        </p:txBody>
      </p:sp>
      <p:grpSp>
        <p:nvGrpSpPr>
          <p:cNvPr name="Group 7" id="7"/>
          <p:cNvGrpSpPr/>
          <p:nvPr/>
        </p:nvGrpSpPr>
        <p:grpSpPr>
          <a:xfrm rot="0">
            <a:off x="8615384" y="9564768"/>
            <a:ext cx="10382258" cy="873338"/>
            <a:chOff x="0" y="0"/>
            <a:chExt cx="2734422" cy="230015"/>
          </a:xfrm>
        </p:grpSpPr>
        <p:sp>
          <p:nvSpPr>
            <p:cNvPr name="Freeform 8" id="8"/>
            <p:cNvSpPr/>
            <p:nvPr/>
          </p:nvSpPr>
          <p:spPr>
            <a:xfrm flipH="false" flipV="false" rot="0">
              <a:off x="0" y="0"/>
              <a:ext cx="2734422" cy="230015"/>
            </a:xfrm>
            <a:custGeom>
              <a:avLst/>
              <a:gdLst/>
              <a:ahLst/>
              <a:cxnLst/>
              <a:rect r="r" b="b" t="t" l="l"/>
              <a:pathLst>
                <a:path h="230015" w="2734422">
                  <a:moveTo>
                    <a:pt x="203200" y="0"/>
                  </a:moveTo>
                  <a:lnTo>
                    <a:pt x="2734422" y="0"/>
                  </a:lnTo>
                  <a:lnTo>
                    <a:pt x="2531222" y="230015"/>
                  </a:lnTo>
                  <a:lnTo>
                    <a:pt x="0" y="230015"/>
                  </a:lnTo>
                  <a:lnTo>
                    <a:pt x="203200" y="0"/>
                  </a:lnTo>
                  <a:close/>
                </a:path>
              </a:pathLst>
            </a:custGeom>
            <a:solidFill>
              <a:srgbClr val="25CFFE"/>
            </a:solidFill>
          </p:spPr>
        </p:sp>
        <p:sp>
          <p:nvSpPr>
            <p:cNvPr name="TextBox 9" id="9"/>
            <p:cNvSpPr txBox="true"/>
            <p:nvPr/>
          </p:nvSpPr>
          <p:spPr>
            <a:xfrm>
              <a:off x="101600" y="-47625"/>
              <a:ext cx="2531222" cy="27764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8962513" y="9564768"/>
            <a:ext cx="10382258" cy="873338"/>
            <a:chOff x="0" y="0"/>
            <a:chExt cx="2734422" cy="230015"/>
          </a:xfrm>
        </p:grpSpPr>
        <p:sp>
          <p:nvSpPr>
            <p:cNvPr name="Freeform 11" id="11"/>
            <p:cNvSpPr/>
            <p:nvPr/>
          </p:nvSpPr>
          <p:spPr>
            <a:xfrm flipH="false" flipV="false" rot="0">
              <a:off x="0" y="0"/>
              <a:ext cx="2734422" cy="230015"/>
            </a:xfrm>
            <a:custGeom>
              <a:avLst/>
              <a:gdLst/>
              <a:ahLst/>
              <a:cxnLst/>
              <a:rect r="r" b="b" t="t" l="l"/>
              <a:pathLst>
                <a:path h="230015" w="2734422">
                  <a:moveTo>
                    <a:pt x="203200" y="0"/>
                  </a:moveTo>
                  <a:lnTo>
                    <a:pt x="2734422" y="0"/>
                  </a:lnTo>
                  <a:lnTo>
                    <a:pt x="2531222" y="230015"/>
                  </a:lnTo>
                  <a:lnTo>
                    <a:pt x="0" y="230015"/>
                  </a:lnTo>
                  <a:lnTo>
                    <a:pt x="203200" y="0"/>
                  </a:lnTo>
                  <a:close/>
                </a:path>
              </a:pathLst>
            </a:custGeom>
            <a:solidFill>
              <a:srgbClr val="5C6D7B"/>
            </a:solidFill>
          </p:spPr>
        </p:sp>
        <p:sp>
          <p:nvSpPr>
            <p:cNvPr name="TextBox 12" id="12"/>
            <p:cNvSpPr txBox="true"/>
            <p:nvPr/>
          </p:nvSpPr>
          <p:spPr>
            <a:xfrm>
              <a:off x="101600" y="-47625"/>
              <a:ext cx="2531222" cy="277640"/>
            </a:xfrm>
            <a:prstGeom prst="rect">
              <a:avLst/>
            </a:prstGeom>
          </p:spPr>
          <p:txBody>
            <a:bodyPr anchor="ctr" rtlCol="false" tIns="50800" lIns="50800" bIns="50800" rIns="50800"/>
            <a:lstStyle/>
            <a:p>
              <a:pPr algn="ctr" marL="0" indent="0" lvl="0">
                <a:lnSpc>
                  <a:spcPts val="2659"/>
                </a:lnSpc>
              </a:pPr>
            </a:p>
          </p:txBody>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694664" y="9330833"/>
            <a:ext cx="3425925" cy="1157288"/>
            <a:chOff x="0" y="0"/>
            <a:chExt cx="902301" cy="304800"/>
          </a:xfrm>
        </p:grpSpPr>
        <p:sp>
          <p:nvSpPr>
            <p:cNvPr name="Freeform 3" id="3"/>
            <p:cNvSpPr/>
            <p:nvPr/>
          </p:nvSpPr>
          <p:spPr>
            <a:xfrm flipH="false" flipV="false" rot="0">
              <a:off x="0" y="0"/>
              <a:ext cx="902301" cy="304800"/>
            </a:xfrm>
            <a:custGeom>
              <a:avLst/>
              <a:gdLst/>
              <a:ahLst/>
              <a:cxnLst/>
              <a:rect r="r" b="b" t="t" l="l"/>
              <a:pathLst>
                <a:path h="304800" w="902301">
                  <a:moveTo>
                    <a:pt x="203200" y="0"/>
                  </a:moveTo>
                  <a:lnTo>
                    <a:pt x="902301" y="0"/>
                  </a:lnTo>
                  <a:lnTo>
                    <a:pt x="699101" y="304800"/>
                  </a:lnTo>
                  <a:lnTo>
                    <a:pt x="0" y="304800"/>
                  </a:lnTo>
                  <a:lnTo>
                    <a:pt x="203200" y="0"/>
                  </a:lnTo>
                  <a:close/>
                </a:path>
              </a:pathLst>
            </a:custGeom>
            <a:solidFill>
              <a:srgbClr val="5C6D7B"/>
            </a:solidFill>
          </p:spPr>
        </p:sp>
        <p:sp>
          <p:nvSpPr>
            <p:cNvPr name="TextBox 4" id="4"/>
            <p:cNvSpPr txBox="true"/>
            <p:nvPr/>
          </p:nvSpPr>
          <p:spPr>
            <a:xfrm>
              <a:off x="101600" y="-47625"/>
              <a:ext cx="699101" cy="352425"/>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14842202" y="6887243"/>
            <a:ext cx="7201755" cy="720175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5CFFE"/>
            </a:solidFill>
          </p:spPr>
        </p:sp>
        <p:sp>
          <p:nvSpPr>
            <p:cNvPr name="TextBox 7" id="7"/>
            <p:cNvSpPr txBox="true"/>
            <p:nvPr/>
          </p:nvSpPr>
          <p:spPr>
            <a:xfrm>
              <a:off x="139700" y="92075"/>
              <a:ext cx="533400" cy="581025"/>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6275668" y="8320710"/>
            <a:ext cx="4334822" cy="433482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5C6D7B"/>
            </a:solidFill>
          </p:spPr>
        </p:sp>
        <p:sp>
          <p:nvSpPr>
            <p:cNvPr name="TextBox 10" id="10"/>
            <p:cNvSpPr txBox="true"/>
            <p:nvPr/>
          </p:nvSpPr>
          <p:spPr>
            <a:xfrm>
              <a:off x="139700" y="92075"/>
              <a:ext cx="533400" cy="581025"/>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1446890" y="9330833"/>
            <a:ext cx="1594647" cy="1157288"/>
            <a:chOff x="0" y="0"/>
            <a:chExt cx="419989" cy="304800"/>
          </a:xfrm>
        </p:grpSpPr>
        <p:sp>
          <p:nvSpPr>
            <p:cNvPr name="Freeform 12" id="12"/>
            <p:cNvSpPr/>
            <p:nvPr/>
          </p:nvSpPr>
          <p:spPr>
            <a:xfrm flipH="false" flipV="false" rot="0">
              <a:off x="0" y="0"/>
              <a:ext cx="419989" cy="304800"/>
            </a:xfrm>
            <a:custGeom>
              <a:avLst/>
              <a:gdLst/>
              <a:ahLst/>
              <a:cxnLst/>
              <a:rect r="r" b="b" t="t" l="l"/>
              <a:pathLst>
                <a:path h="304800" w="419989">
                  <a:moveTo>
                    <a:pt x="203200" y="0"/>
                  </a:moveTo>
                  <a:lnTo>
                    <a:pt x="419989" y="0"/>
                  </a:lnTo>
                  <a:lnTo>
                    <a:pt x="216789" y="304800"/>
                  </a:lnTo>
                  <a:lnTo>
                    <a:pt x="0" y="304800"/>
                  </a:lnTo>
                  <a:lnTo>
                    <a:pt x="203200" y="0"/>
                  </a:lnTo>
                  <a:close/>
                </a:path>
              </a:pathLst>
            </a:custGeom>
            <a:solidFill>
              <a:srgbClr val="5C6D7B"/>
            </a:solidFill>
          </p:spPr>
        </p:sp>
        <p:sp>
          <p:nvSpPr>
            <p:cNvPr name="TextBox 13" id="13"/>
            <p:cNvSpPr txBox="true"/>
            <p:nvPr/>
          </p:nvSpPr>
          <p:spPr>
            <a:xfrm>
              <a:off x="101600" y="-47625"/>
              <a:ext cx="216789" cy="352425"/>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2700000">
            <a:off x="16442911" y="8388207"/>
            <a:ext cx="1372954" cy="1480362"/>
            <a:chOff x="0" y="0"/>
            <a:chExt cx="753827" cy="812800"/>
          </a:xfrm>
        </p:grpSpPr>
        <p:sp>
          <p:nvSpPr>
            <p:cNvPr name="Freeform 15" id="15"/>
            <p:cNvSpPr/>
            <p:nvPr/>
          </p:nvSpPr>
          <p:spPr>
            <a:xfrm flipH="false" flipV="false" rot="0">
              <a:off x="0" y="0"/>
              <a:ext cx="753827" cy="812800"/>
            </a:xfrm>
            <a:custGeom>
              <a:avLst/>
              <a:gdLst/>
              <a:ahLst/>
              <a:cxnLst/>
              <a:rect r="r" b="b" t="t" l="l"/>
              <a:pathLst>
                <a:path h="812800" w="753827">
                  <a:moveTo>
                    <a:pt x="376914" y="0"/>
                  </a:moveTo>
                  <a:lnTo>
                    <a:pt x="753827" y="406400"/>
                  </a:lnTo>
                  <a:lnTo>
                    <a:pt x="376914" y="812800"/>
                  </a:lnTo>
                  <a:lnTo>
                    <a:pt x="0" y="406400"/>
                  </a:lnTo>
                  <a:lnTo>
                    <a:pt x="376914" y="0"/>
                  </a:lnTo>
                  <a:close/>
                </a:path>
              </a:pathLst>
            </a:custGeom>
            <a:solidFill>
              <a:srgbClr val="25CFFE"/>
            </a:solidFill>
          </p:spPr>
        </p:sp>
        <p:sp>
          <p:nvSpPr>
            <p:cNvPr name="TextBox 16" id="16"/>
            <p:cNvSpPr txBox="true"/>
            <p:nvPr/>
          </p:nvSpPr>
          <p:spPr>
            <a:xfrm>
              <a:off x="129564" y="92075"/>
              <a:ext cx="494699" cy="581025"/>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1709791" y="-1095321"/>
            <a:ext cx="11969329" cy="3503019"/>
            <a:chOff x="0" y="0"/>
            <a:chExt cx="1041459" cy="304800"/>
          </a:xfrm>
        </p:grpSpPr>
        <p:sp>
          <p:nvSpPr>
            <p:cNvPr name="Freeform 18" id="18"/>
            <p:cNvSpPr/>
            <p:nvPr/>
          </p:nvSpPr>
          <p:spPr>
            <a:xfrm flipH="false" flipV="false" rot="0">
              <a:off x="0" y="0"/>
              <a:ext cx="1041459" cy="304800"/>
            </a:xfrm>
            <a:custGeom>
              <a:avLst/>
              <a:gdLst/>
              <a:ahLst/>
              <a:cxnLst/>
              <a:rect r="r" b="b" t="t" l="l"/>
              <a:pathLst>
                <a:path h="304800" w="1041459">
                  <a:moveTo>
                    <a:pt x="203200" y="0"/>
                  </a:moveTo>
                  <a:lnTo>
                    <a:pt x="1041459" y="0"/>
                  </a:lnTo>
                  <a:lnTo>
                    <a:pt x="838259" y="304800"/>
                  </a:lnTo>
                  <a:lnTo>
                    <a:pt x="0" y="304800"/>
                  </a:lnTo>
                  <a:lnTo>
                    <a:pt x="203200" y="0"/>
                  </a:lnTo>
                  <a:close/>
                </a:path>
              </a:pathLst>
            </a:custGeom>
            <a:solidFill>
              <a:srgbClr val="25CFFE"/>
            </a:solidFill>
          </p:spPr>
        </p:sp>
        <p:sp>
          <p:nvSpPr>
            <p:cNvPr name="TextBox 19" id="19"/>
            <p:cNvSpPr txBox="true"/>
            <p:nvPr/>
          </p:nvSpPr>
          <p:spPr>
            <a:xfrm>
              <a:off x="101600" y="-47625"/>
              <a:ext cx="838259" cy="352425"/>
            </a:xfrm>
            <a:prstGeom prst="rect">
              <a:avLst/>
            </a:prstGeom>
          </p:spPr>
          <p:txBody>
            <a:bodyPr anchor="ctr" rtlCol="false" tIns="50800" lIns="50800" bIns="50800" rIns="50800"/>
            <a:lstStyle/>
            <a:p>
              <a:pPr algn="ctr" marL="0" indent="0" lvl="0">
                <a:lnSpc>
                  <a:spcPts val="2659"/>
                </a:lnSpc>
              </a:pPr>
            </a:p>
          </p:txBody>
        </p:sp>
      </p:grpSp>
      <p:sp>
        <p:nvSpPr>
          <p:cNvPr name="TextBox 20" id="20"/>
          <p:cNvSpPr txBox="true"/>
          <p:nvPr/>
        </p:nvSpPr>
        <p:spPr>
          <a:xfrm rot="0">
            <a:off x="1028700" y="904875"/>
            <a:ext cx="6267613" cy="1110519"/>
          </a:xfrm>
          <a:prstGeom prst="rect">
            <a:avLst/>
          </a:prstGeom>
        </p:spPr>
        <p:txBody>
          <a:bodyPr anchor="t" rtlCol="false" tIns="0" lIns="0" bIns="0" rIns="0">
            <a:spAutoFit/>
          </a:bodyPr>
          <a:lstStyle/>
          <a:p>
            <a:pPr algn="l" marL="0" indent="0" lvl="0">
              <a:lnSpc>
                <a:spcPts val="9140"/>
              </a:lnSpc>
            </a:pPr>
            <a:r>
              <a:rPr lang="en-US" sz="6528">
                <a:solidFill>
                  <a:srgbClr val="FFFFFF"/>
                </a:solidFill>
                <a:latin typeface="Etna Sans Serif"/>
                <a:ea typeface="Etna Sans Serif"/>
                <a:cs typeface="Etna Sans Serif"/>
                <a:sym typeface="Etna Sans Serif"/>
              </a:rPr>
              <a:t>Project Structure</a:t>
            </a:r>
          </a:p>
        </p:txBody>
      </p:sp>
      <p:sp>
        <p:nvSpPr>
          <p:cNvPr name="TextBox 21" id="21"/>
          <p:cNvSpPr txBox="true"/>
          <p:nvPr/>
        </p:nvSpPr>
        <p:spPr>
          <a:xfrm rot="0">
            <a:off x="1028700" y="3403973"/>
            <a:ext cx="14119399" cy="3817223"/>
          </a:xfrm>
          <a:prstGeom prst="rect">
            <a:avLst/>
          </a:prstGeom>
        </p:spPr>
        <p:txBody>
          <a:bodyPr anchor="t" rtlCol="false" tIns="0" lIns="0" bIns="0" rIns="0">
            <a:spAutoFit/>
          </a:bodyPr>
          <a:lstStyle/>
          <a:p>
            <a:pPr algn="l" marL="0" indent="0" lvl="0">
              <a:lnSpc>
                <a:spcPts val="3801"/>
              </a:lnSpc>
              <a:spcBef>
                <a:spcPct val="0"/>
              </a:spcBef>
            </a:pPr>
            <a:r>
              <a:rPr lang="en-US" sz="2715">
                <a:solidFill>
                  <a:srgbClr val="5C6D7B"/>
                </a:solidFill>
                <a:latin typeface="Arimo"/>
                <a:ea typeface="Arimo"/>
                <a:cs typeface="Arimo"/>
                <a:sym typeface="Arimo"/>
              </a:rPr>
              <a:t>The LogLens codebase is organized for clarity and maintainability. api.py serves as the backend server entry point, managing all API endpoints. The parser/ directory contains parser.py for log parsing logic, while detector/ holds detector.py for attack detection algorithms. The signatures/ folder stores JSON files defining attack patterns and signatures. Sample log files and detected attack outputs are stored in logs/, and uploads/ handles log files uploaded during runtime. The frontend/ directory contains all React application source code and configuration files. Finally, requirements.txt and README.md provide setup instructions and documentation.</a:t>
            </a:r>
          </a:p>
        </p:txBody>
      </p:sp>
      <p:grpSp>
        <p:nvGrpSpPr>
          <p:cNvPr name="Group 22" id="22"/>
          <p:cNvGrpSpPr/>
          <p:nvPr/>
        </p:nvGrpSpPr>
        <p:grpSpPr>
          <a:xfrm rot="-2700000">
            <a:off x="15997148" y="7980206"/>
            <a:ext cx="1372954" cy="1480362"/>
            <a:chOff x="0" y="0"/>
            <a:chExt cx="753827" cy="812800"/>
          </a:xfrm>
        </p:grpSpPr>
        <p:sp>
          <p:nvSpPr>
            <p:cNvPr name="Freeform 23" id="23"/>
            <p:cNvSpPr/>
            <p:nvPr/>
          </p:nvSpPr>
          <p:spPr>
            <a:xfrm flipH="false" flipV="false" rot="0">
              <a:off x="0" y="0"/>
              <a:ext cx="753827" cy="812800"/>
            </a:xfrm>
            <a:custGeom>
              <a:avLst/>
              <a:gdLst/>
              <a:ahLst/>
              <a:cxnLst/>
              <a:rect r="r" b="b" t="t" l="l"/>
              <a:pathLst>
                <a:path h="812800" w="753827">
                  <a:moveTo>
                    <a:pt x="376914" y="0"/>
                  </a:moveTo>
                  <a:lnTo>
                    <a:pt x="753827" y="406400"/>
                  </a:lnTo>
                  <a:lnTo>
                    <a:pt x="376914" y="812800"/>
                  </a:lnTo>
                  <a:lnTo>
                    <a:pt x="0" y="406400"/>
                  </a:lnTo>
                  <a:lnTo>
                    <a:pt x="376914" y="0"/>
                  </a:lnTo>
                  <a:close/>
                </a:path>
              </a:pathLst>
            </a:custGeom>
            <a:solidFill>
              <a:srgbClr val="5C6D7B"/>
            </a:solidFill>
          </p:spPr>
        </p:sp>
        <p:sp>
          <p:nvSpPr>
            <p:cNvPr name="TextBox 24" id="24"/>
            <p:cNvSpPr txBox="true"/>
            <p:nvPr/>
          </p:nvSpPr>
          <p:spPr>
            <a:xfrm>
              <a:off x="129564" y="92075"/>
              <a:ext cx="494699" cy="581025"/>
            </a:xfrm>
            <a:prstGeom prst="rect">
              <a:avLst/>
            </a:prstGeom>
          </p:spPr>
          <p:txBody>
            <a:bodyPr anchor="ctr" rtlCol="false" tIns="50800" lIns="50800" bIns="50800" rIns="50800"/>
            <a:lstStyle/>
            <a:p>
              <a:pPr algn="ctr" marL="0" indent="0" lvl="0">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403903" y="-113275"/>
            <a:ext cx="11547903" cy="2688359"/>
            <a:chOff x="0" y="0"/>
            <a:chExt cx="1118892" cy="260479"/>
          </a:xfrm>
        </p:grpSpPr>
        <p:sp>
          <p:nvSpPr>
            <p:cNvPr name="Freeform 3" id="3"/>
            <p:cNvSpPr/>
            <p:nvPr/>
          </p:nvSpPr>
          <p:spPr>
            <a:xfrm flipH="false" flipV="false" rot="0">
              <a:off x="0" y="0"/>
              <a:ext cx="1118892" cy="260479"/>
            </a:xfrm>
            <a:custGeom>
              <a:avLst/>
              <a:gdLst/>
              <a:ahLst/>
              <a:cxnLst/>
              <a:rect r="r" b="b" t="t" l="l"/>
              <a:pathLst>
                <a:path h="260479" w="1118892">
                  <a:moveTo>
                    <a:pt x="203200" y="0"/>
                  </a:moveTo>
                  <a:lnTo>
                    <a:pt x="1118892" y="0"/>
                  </a:lnTo>
                  <a:lnTo>
                    <a:pt x="915692" y="260479"/>
                  </a:lnTo>
                  <a:lnTo>
                    <a:pt x="0" y="260479"/>
                  </a:lnTo>
                  <a:lnTo>
                    <a:pt x="203200" y="0"/>
                  </a:lnTo>
                  <a:close/>
                </a:path>
              </a:pathLst>
            </a:custGeom>
            <a:solidFill>
              <a:srgbClr val="5C6D7B"/>
            </a:solidFill>
          </p:spPr>
        </p:sp>
        <p:sp>
          <p:nvSpPr>
            <p:cNvPr name="TextBox 4" id="4"/>
            <p:cNvSpPr txBox="true"/>
            <p:nvPr/>
          </p:nvSpPr>
          <p:spPr>
            <a:xfrm>
              <a:off x="101600" y="-47625"/>
              <a:ext cx="915692" cy="308104"/>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1028700" y="3792247"/>
            <a:ext cx="22353355" cy="7071836"/>
            <a:chOff x="0" y="0"/>
            <a:chExt cx="1926884" cy="609600"/>
          </a:xfrm>
        </p:grpSpPr>
        <p:sp>
          <p:nvSpPr>
            <p:cNvPr name="Freeform 6" id="6"/>
            <p:cNvSpPr/>
            <p:nvPr/>
          </p:nvSpPr>
          <p:spPr>
            <a:xfrm flipH="false" flipV="false" rot="0">
              <a:off x="0" y="0"/>
              <a:ext cx="1926884" cy="609600"/>
            </a:xfrm>
            <a:custGeom>
              <a:avLst/>
              <a:gdLst/>
              <a:ahLst/>
              <a:cxnLst/>
              <a:rect r="r" b="b" t="t" l="l"/>
              <a:pathLst>
                <a:path h="609600" w="1926884">
                  <a:moveTo>
                    <a:pt x="203200" y="0"/>
                  </a:moveTo>
                  <a:lnTo>
                    <a:pt x="1723684" y="0"/>
                  </a:lnTo>
                  <a:lnTo>
                    <a:pt x="1926884" y="609600"/>
                  </a:lnTo>
                  <a:lnTo>
                    <a:pt x="0" y="609600"/>
                  </a:lnTo>
                  <a:lnTo>
                    <a:pt x="203200" y="0"/>
                  </a:lnTo>
                  <a:close/>
                </a:path>
              </a:pathLst>
            </a:custGeom>
            <a:solidFill>
              <a:srgbClr val="25CFFE"/>
            </a:solidFill>
          </p:spPr>
        </p:sp>
        <p:sp>
          <p:nvSpPr>
            <p:cNvPr name="TextBox 7" id="7"/>
            <p:cNvSpPr txBox="true"/>
            <p:nvPr/>
          </p:nvSpPr>
          <p:spPr>
            <a:xfrm>
              <a:off x="127000" y="-47625"/>
              <a:ext cx="1672884" cy="657225"/>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1028700" y="933450"/>
            <a:ext cx="5594865" cy="845073"/>
          </a:xfrm>
          <a:prstGeom prst="rect">
            <a:avLst/>
          </a:prstGeom>
        </p:spPr>
        <p:txBody>
          <a:bodyPr anchor="t" rtlCol="false" tIns="0" lIns="0" bIns="0" rIns="0">
            <a:spAutoFit/>
          </a:bodyPr>
          <a:lstStyle/>
          <a:p>
            <a:pPr algn="l" marL="0" indent="0" lvl="0">
              <a:lnSpc>
                <a:spcPts val="6971"/>
              </a:lnSpc>
            </a:pPr>
            <a:r>
              <a:rPr lang="en-US" sz="4979">
                <a:solidFill>
                  <a:srgbClr val="FFFFFF"/>
                </a:solidFill>
                <a:latin typeface="Etna Sans Serif"/>
                <a:ea typeface="Etna Sans Serif"/>
                <a:cs typeface="Etna Sans Serif"/>
                <a:sym typeface="Etna Sans Serif"/>
              </a:rPr>
              <a:t>How to Run LogLens</a:t>
            </a:r>
          </a:p>
        </p:txBody>
      </p:sp>
      <p:sp>
        <p:nvSpPr>
          <p:cNvPr name="TextBox 9" id="9"/>
          <p:cNvSpPr txBox="true"/>
          <p:nvPr/>
        </p:nvSpPr>
        <p:spPr>
          <a:xfrm rot="0">
            <a:off x="4109211" y="4847573"/>
            <a:ext cx="13150089" cy="3758738"/>
          </a:xfrm>
          <a:prstGeom prst="rect">
            <a:avLst/>
          </a:prstGeom>
        </p:spPr>
        <p:txBody>
          <a:bodyPr anchor="t" rtlCol="false" tIns="0" lIns="0" bIns="0" rIns="0">
            <a:spAutoFit/>
          </a:bodyPr>
          <a:lstStyle/>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Clone the repository:</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git clone https://github.com/harkeshstudy01-ux/loglens.git</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Install Python dependencies:</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pip install -r requirements.txt</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Start backend server:</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python api.py (runs at http://127.0.0.1:5000)</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Start frontend:</a:t>
            </a:r>
          </a:p>
          <a:p>
            <a:pPr algn="l" marL="516688" indent="-258344" lvl="1">
              <a:lnSpc>
                <a:spcPts val="3350"/>
              </a:lnSpc>
              <a:buAutoNum type="arabicPeriod" startAt="1"/>
            </a:pPr>
            <a:r>
              <a:rPr lang="en-US" sz="2393">
                <a:solidFill>
                  <a:srgbClr val="5C6D7B"/>
                </a:solidFill>
                <a:latin typeface="Questrial"/>
                <a:ea typeface="Questrial"/>
                <a:cs typeface="Questrial"/>
                <a:sym typeface="Questrial"/>
              </a:rPr>
              <a:t>cd frontend → npm install → npm start (runs at http://localhost:3000)</a:t>
            </a:r>
          </a:p>
          <a:p>
            <a:pPr algn="l" marL="0" indent="0" lvl="0">
              <a:lnSpc>
                <a:spcPts val="3350"/>
              </a:lnSpc>
            </a:pPr>
            <a:r>
              <a:rPr lang="en-US" sz="2393">
                <a:solidFill>
                  <a:srgbClr val="5C6D7B"/>
                </a:solidFill>
                <a:latin typeface="Questrial"/>
                <a:ea typeface="Questrial"/>
                <a:cs typeface="Questrial"/>
                <a:sym typeface="Questrial"/>
              </a:rPr>
              <a:t>This setup provides full access to the dashboard and log analysis features.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32369" y="-151033"/>
            <a:ext cx="12648341" cy="2696550"/>
            <a:chOff x="0" y="0"/>
            <a:chExt cx="2007086" cy="427899"/>
          </a:xfrm>
        </p:grpSpPr>
        <p:sp>
          <p:nvSpPr>
            <p:cNvPr name="Freeform 3" id="3"/>
            <p:cNvSpPr/>
            <p:nvPr/>
          </p:nvSpPr>
          <p:spPr>
            <a:xfrm flipH="false" flipV="false" rot="0">
              <a:off x="0" y="0"/>
              <a:ext cx="2007086" cy="427899"/>
            </a:xfrm>
            <a:custGeom>
              <a:avLst/>
              <a:gdLst/>
              <a:ahLst/>
              <a:cxnLst/>
              <a:rect r="r" b="b" t="t" l="l"/>
              <a:pathLst>
                <a:path h="427899" w="2007086">
                  <a:moveTo>
                    <a:pt x="203200" y="0"/>
                  </a:moveTo>
                  <a:lnTo>
                    <a:pt x="2007086" y="0"/>
                  </a:lnTo>
                  <a:lnTo>
                    <a:pt x="1803886" y="427899"/>
                  </a:lnTo>
                  <a:lnTo>
                    <a:pt x="0" y="427899"/>
                  </a:lnTo>
                  <a:lnTo>
                    <a:pt x="203200" y="0"/>
                  </a:lnTo>
                  <a:close/>
                </a:path>
              </a:pathLst>
            </a:custGeom>
            <a:solidFill>
              <a:srgbClr val="25CFFE"/>
            </a:solidFill>
          </p:spPr>
        </p:sp>
        <p:sp>
          <p:nvSpPr>
            <p:cNvPr name="TextBox 4" id="4"/>
            <p:cNvSpPr txBox="true"/>
            <p:nvPr/>
          </p:nvSpPr>
          <p:spPr>
            <a:xfrm>
              <a:off x="101600" y="-47625"/>
              <a:ext cx="1803886" cy="475524"/>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2232415" y="3459917"/>
            <a:ext cx="16969133" cy="2787289"/>
            <a:chOff x="0" y="0"/>
            <a:chExt cx="4828094" cy="793045"/>
          </a:xfrm>
        </p:grpSpPr>
        <p:sp>
          <p:nvSpPr>
            <p:cNvPr name="Freeform 6" id="6"/>
            <p:cNvSpPr/>
            <p:nvPr/>
          </p:nvSpPr>
          <p:spPr>
            <a:xfrm flipH="false" flipV="false" rot="0">
              <a:off x="0" y="0"/>
              <a:ext cx="4828094" cy="793045"/>
            </a:xfrm>
            <a:custGeom>
              <a:avLst/>
              <a:gdLst/>
              <a:ahLst/>
              <a:cxnLst/>
              <a:rect r="r" b="b" t="t" l="l"/>
              <a:pathLst>
                <a:path h="793045" w="4828094">
                  <a:moveTo>
                    <a:pt x="203200" y="0"/>
                  </a:moveTo>
                  <a:lnTo>
                    <a:pt x="4828094" y="0"/>
                  </a:lnTo>
                  <a:lnTo>
                    <a:pt x="4624894" y="793045"/>
                  </a:lnTo>
                  <a:lnTo>
                    <a:pt x="0" y="793045"/>
                  </a:lnTo>
                  <a:lnTo>
                    <a:pt x="203200" y="0"/>
                  </a:lnTo>
                  <a:close/>
                </a:path>
              </a:pathLst>
            </a:custGeom>
            <a:solidFill>
              <a:srgbClr val="5C6D7B"/>
            </a:solidFill>
          </p:spPr>
        </p:sp>
        <p:sp>
          <p:nvSpPr>
            <p:cNvPr name="TextBox 7" id="7"/>
            <p:cNvSpPr txBox="true"/>
            <p:nvPr/>
          </p:nvSpPr>
          <p:spPr>
            <a:xfrm>
              <a:off x="101600" y="-47625"/>
              <a:ext cx="4624894" cy="840670"/>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1058670" y="962025"/>
            <a:ext cx="7903843" cy="1268572"/>
          </a:xfrm>
          <a:prstGeom prst="rect">
            <a:avLst/>
          </a:prstGeom>
        </p:spPr>
        <p:txBody>
          <a:bodyPr anchor="t" rtlCol="false" tIns="0" lIns="0" bIns="0" rIns="0">
            <a:spAutoFit/>
          </a:bodyPr>
          <a:lstStyle/>
          <a:p>
            <a:pPr algn="l" marL="0" indent="0" lvl="0">
              <a:lnSpc>
                <a:spcPts val="5153"/>
              </a:lnSpc>
            </a:pPr>
            <a:r>
              <a:rPr lang="en-US" sz="3681">
                <a:solidFill>
                  <a:srgbClr val="FFFFFF"/>
                </a:solidFill>
                <a:latin typeface="Etna Sans Serif"/>
                <a:ea typeface="Etna Sans Serif"/>
                <a:cs typeface="Etna Sans Serif"/>
                <a:sym typeface="Etna Sans Serif"/>
              </a:rPr>
              <a:t>Performance and Future Improvements</a:t>
            </a:r>
          </a:p>
        </p:txBody>
      </p:sp>
      <p:sp>
        <p:nvSpPr>
          <p:cNvPr name="TextBox 9" id="9"/>
          <p:cNvSpPr txBox="true"/>
          <p:nvPr/>
        </p:nvSpPr>
        <p:spPr>
          <a:xfrm rot="0">
            <a:off x="2998670" y="3864928"/>
            <a:ext cx="14071839" cy="1616790"/>
          </a:xfrm>
          <a:prstGeom prst="rect">
            <a:avLst/>
          </a:prstGeom>
        </p:spPr>
        <p:txBody>
          <a:bodyPr anchor="t" rtlCol="false" tIns="0" lIns="0" bIns="0" rIns="0">
            <a:spAutoFit/>
          </a:bodyPr>
          <a:lstStyle/>
          <a:p>
            <a:pPr algn="l" marL="0" indent="0" lvl="0">
              <a:lnSpc>
                <a:spcPts val="4335"/>
              </a:lnSpc>
            </a:pPr>
            <a:r>
              <a:rPr lang="en-US" sz="3096">
                <a:solidFill>
                  <a:srgbClr val="FFFFFF"/>
                </a:solidFill>
                <a:latin typeface="Questrial"/>
                <a:ea typeface="Questrial"/>
                <a:cs typeface="Questrial"/>
                <a:sym typeface="Questrial"/>
              </a:rPr>
              <a:t>Performance: LogLens processes logs line-by-line with background processing to avoid memory overload. The dashboard auto-refreshes every few seconds for near real-time monitoring updates.</a:t>
            </a:r>
          </a:p>
        </p:txBody>
      </p:sp>
      <p:grpSp>
        <p:nvGrpSpPr>
          <p:cNvPr name="Group 10" id="10"/>
          <p:cNvGrpSpPr/>
          <p:nvPr/>
        </p:nvGrpSpPr>
        <p:grpSpPr>
          <a:xfrm rot="0">
            <a:off x="2232415" y="6473472"/>
            <a:ext cx="16969133" cy="2787289"/>
            <a:chOff x="0" y="0"/>
            <a:chExt cx="4828094" cy="793045"/>
          </a:xfrm>
        </p:grpSpPr>
        <p:sp>
          <p:nvSpPr>
            <p:cNvPr name="Freeform 11" id="11"/>
            <p:cNvSpPr/>
            <p:nvPr/>
          </p:nvSpPr>
          <p:spPr>
            <a:xfrm flipH="false" flipV="false" rot="0">
              <a:off x="0" y="0"/>
              <a:ext cx="4828094" cy="793045"/>
            </a:xfrm>
            <a:custGeom>
              <a:avLst/>
              <a:gdLst/>
              <a:ahLst/>
              <a:cxnLst/>
              <a:rect r="r" b="b" t="t" l="l"/>
              <a:pathLst>
                <a:path h="793045" w="4828094">
                  <a:moveTo>
                    <a:pt x="203200" y="0"/>
                  </a:moveTo>
                  <a:lnTo>
                    <a:pt x="4828094" y="0"/>
                  </a:lnTo>
                  <a:lnTo>
                    <a:pt x="4624894" y="793045"/>
                  </a:lnTo>
                  <a:lnTo>
                    <a:pt x="0" y="793045"/>
                  </a:lnTo>
                  <a:lnTo>
                    <a:pt x="203200" y="0"/>
                  </a:lnTo>
                  <a:close/>
                </a:path>
              </a:pathLst>
            </a:custGeom>
            <a:solidFill>
              <a:srgbClr val="5C6D7B"/>
            </a:solidFill>
          </p:spPr>
        </p:sp>
        <p:sp>
          <p:nvSpPr>
            <p:cNvPr name="TextBox 12" id="12"/>
            <p:cNvSpPr txBox="true"/>
            <p:nvPr/>
          </p:nvSpPr>
          <p:spPr>
            <a:xfrm>
              <a:off x="101600" y="-47625"/>
              <a:ext cx="4624894" cy="840670"/>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2866762" y="6793967"/>
            <a:ext cx="13675130" cy="1616789"/>
          </a:xfrm>
          <a:prstGeom prst="rect">
            <a:avLst/>
          </a:prstGeom>
        </p:spPr>
        <p:txBody>
          <a:bodyPr anchor="t" rtlCol="false" tIns="0" lIns="0" bIns="0" rIns="0">
            <a:spAutoFit/>
          </a:bodyPr>
          <a:lstStyle/>
          <a:p>
            <a:pPr algn="l" marL="0" indent="0" lvl="0">
              <a:lnSpc>
                <a:spcPts val="4335"/>
              </a:lnSpc>
            </a:pPr>
            <a:r>
              <a:rPr lang="en-US" sz="3096">
                <a:solidFill>
                  <a:srgbClr val="FFFFFF"/>
                </a:solidFill>
                <a:latin typeface="Questrial"/>
                <a:ea typeface="Questrial"/>
                <a:cs typeface="Questrial"/>
                <a:sym typeface="Questrial"/>
              </a:rPr>
              <a:t>Future Improvements: Real GeoIP location integration, interactive world attack map visualization, AI-based anomaly detection, Docker containerization, user authentication system, and WebSocket support for real-time updates.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3496426" y="-1212669"/>
            <a:ext cx="5143500" cy="5455227"/>
          </a:xfrm>
          <a:custGeom>
            <a:avLst/>
            <a:gdLst/>
            <a:ahLst/>
            <a:cxnLst/>
            <a:rect r="r" b="b" t="t" l="l"/>
            <a:pathLst>
              <a:path h="5455227" w="5143500">
                <a:moveTo>
                  <a:pt x="0" y="0"/>
                </a:moveTo>
                <a:lnTo>
                  <a:pt x="5143500" y="0"/>
                </a:lnTo>
                <a:lnTo>
                  <a:pt x="5143500" y="5455227"/>
                </a:lnTo>
                <a:lnTo>
                  <a:pt x="0" y="5455227"/>
                </a:lnTo>
                <a:lnTo>
                  <a:pt x="0" y="0"/>
                </a:lnTo>
                <a:close/>
              </a:path>
            </a:pathLst>
          </a:custGeom>
          <a:blipFill>
            <a:blip r:embed="rId2"/>
            <a:stretch>
              <a:fillRect l="0" t="0" r="0" b="0"/>
            </a:stretch>
          </a:blipFill>
        </p:spPr>
      </p:sp>
      <p:sp>
        <p:nvSpPr>
          <p:cNvPr name="Freeform 3" id="3"/>
          <p:cNvSpPr/>
          <p:nvPr/>
        </p:nvSpPr>
        <p:spPr>
          <a:xfrm flipH="false" flipV="false" rot="5400000">
            <a:off x="12422352" y="5217083"/>
            <a:ext cx="7327297" cy="7340841"/>
          </a:xfrm>
          <a:custGeom>
            <a:avLst/>
            <a:gdLst/>
            <a:ahLst/>
            <a:cxnLst/>
            <a:rect r="r" b="b" t="t" l="l"/>
            <a:pathLst>
              <a:path h="7340841" w="7327297">
                <a:moveTo>
                  <a:pt x="0" y="0"/>
                </a:moveTo>
                <a:lnTo>
                  <a:pt x="7327297" y="0"/>
                </a:lnTo>
                <a:lnTo>
                  <a:pt x="7327297" y="7340841"/>
                </a:lnTo>
                <a:lnTo>
                  <a:pt x="0" y="7340841"/>
                </a:lnTo>
                <a:lnTo>
                  <a:pt x="0" y="0"/>
                </a:lnTo>
                <a:close/>
              </a:path>
            </a:pathLst>
          </a:custGeom>
          <a:blipFill>
            <a:blip r:embed="rId3"/>
            <a:stretch>
              <a:fillRect l="0" t="0" r="0" b="0"/>
            </a:stretch>
          </a:blipFill>
        </p:spPr>
      </p:sp>
      <p:sp>
        <p:nvSpPr>
          <p:cNvPr name="TextBox 4" id="4"/>
          <p:cNvSpPr txBox="true"/>
          <p:nvPr/>
        </p:nvSpPr>
        <p:spPr>
          <a:xfrm rot="0">
            <a:off x="1028700" y="3111062"/>
            <a:ext cx="15247698" cy="3884897"/>
          </a:xfrm>
          <a:prstGeom prst="rect">
            <a:avLst/>
          </a:prstGeom>
        </p:spPr>
        <p:txBody>
          <a:bodyPr anchor="t" rtlCol="false" tIns="0" lIns="0" bIns="0" rIns="0">
            <a:spAutoFit/>
          </a:bodyPr>
          <a:lstStyle/>
          <a:p>
            <a:pPr algn="ctr" marL="0" indent="0" lvl="0">
              <a:lnSpc>
                <a:spcPts val="15578"/>
              </a:lnSpc>
            </a:pPr>
            <a:r>
              <a:rPr lang="en-US" sz="11127">
                <a:solidFill>
                  <a:srgbClr val="000000"/>
                </a:solidFill>
                <a:latin typeface="Etna Sans Serif"/>
                <a:ea typeface="Etna Sans Serif"/>
                <a:cs typeface="Etna Sans Serif"/>
                <a:sym typeface="Etna Sans Serif"/>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DAHJSCWRbYU</dc:identifier>
  <dcterms:modified xsi:type="dcterms:W3CDTF">2011-08-01T06:04:30Z</dcterms:modified>
  <cp:revision>1</cp:revision>
  <dc:title>LogLens: Security Log Analyzer Overview</dc:title>
</cp:coreProperties>
</file>